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62" r:id="rId6"/>
    <p:sldId id="263" r:id="rId7"/>
    <p:sldId id="264" r:id="rId8"/>
    <p:sldId id="265" r:id="rId9"/>
    <p:sldId id="266"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Linear Discriminant Analysis (LDA)</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Can a straight-line boundary separate MGS1 from MGS4?</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pic>
        <p:nvPicPr>
          <p:cNvPr id="7" name="Picture 6" descr="lda_results.png"/>
          <p:cNvPicPr>
            <a:picLocks noChangeAspect="1"/>
          </p:cNvPicPr>
          <p:nvPr/>
        </p:nvPicPr>
        <p:blipFill>
          <a:blip r:embed="rId2"/>
          <a:stretch>
            <a:fillRect/>
          </a:stretch>
        </p:blipFill>
        <p:spPr>
          <a:xfrm>
            <a:off x="228600" y="1051560"/>
            <a:ext cx="7315200" cy="5577840"/>
          </a:xfrm>
          <a:prstGeom prst="rect">
            <a:avLst/>
          </a:prstGeom>
        </p:spPr>
      </p:pic>
      <p:sp>
        <p:nvSpPr>
          <p:cNvPr id="8" name="Rectangle 7"/>
          <p:cNvSpPr/>
          <p:nvPr/>
        </p:nvSpPr>
        <p:spPr>
          <a:xfrm>
            <a:off x="7772400" y="1051560"/>
            <a:ext cx="420624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143000"/>
            <a:ext cx="3931920" cy="320040"/>
          </a:xfrm>
          <a:prstGeom prst="rect">
            <a:avLst/>
          </a:prstGeom>
          <a:noFill/>
        </p:spPr>
        <p:txBody>
          <a:bodyPr wrap="square">
            <a:spAutoFit/>
          </a:bodyPr>
          <a:lstStyle/>
          <a:p>
            <a:pPr algn="l"/>
            <a:r>
              <a:rPr sz="1500" b="1">
                <a:solidFill>
                  <a:srgbClr val="1A3A5C"/>
                </a:solidFill>
              </a:rPr>
              <a:t>Key Results</a:t>
            </a:r>
          </a:p>
        </p:txBody>
      </p:sp>
      <p:sp>
        <p:nvSpPr>
          <p:cNvPr id="11" name="TextBox 10"/>
          <p:cNvSpPr txBox="1"/>
          <p:nvPr/>
        </p:nvSpPr>
        <p:spPr>
          <a:xfrm>
            <a:off x="7909560" y="1536192"/>
            <a:ext cx="3931920" cy="5029200"/>
          </a:xfrm>
          <a:prstGeom prst="rect">
            <a:avLst/>
          </a:prstGeom>
          <a:noFill/>
        </p:spPr>
        <p:txBody>
          <a:bodyPr wrap="square">
            <a:spAutoFit/>
          </a:bodyPr>
          <a:lstStyle/>
          <a:p>
            <a:pPr>
              <a:spcAft>
                <a:spcPts val="400"/>
              </a:spcAft>
            </a:pPr>
            <a:r>
              <a:rPr sz="1250">
                <a:solidFill>
                  <a:srgbClr val="333333"/>
                </a:solidFill>
              </a:rPr>
              <a:t>AUC = 0.689</a:t>
            </a:r>
          </a:p>
          <a:p>
            <a:pPr>
              <a:spcAft>
                <a:spcPts val="400"/>
              </a:spcAft>
            </a:pPr>
            <a:r>
              <a:rPr sz="1250">
                <a:solidFill>
                  <a:srgbClr val="333333"/>
                </a:solidFill>
              </a:rPr>
              <a:t>Model is better than random chance (&gt;0.5) but leaves room for improvement</a:t>
            </a:r>
          </a:p>
          <a:p>
            <a:pPr>
              <a:spcAft>
                <a:spcPts val="400"/>
              </a:spcAft>
            </a:pPr>
            <a:endParaRPr sz="1250">
              <a:solidFill>
                <a:srgbClr val="333333"/>
              </a:solidFill>
            </a:endParaRPr>
          </a:p>
          <a:p>
            <a:pPr>
              <a:spcAft>
                <a:spcPts val="400"/>
              </a:spcAft>
            </a:pPr>
            <a:r>
              <a:rPr sz="1250">
                <a:solidFill>
                  <a:srgbClr val="333333"/>
                </a:solidFill>
              </a:rPr>
              <a:t>Correctly identified:</a:t>
            </a:r>
          </a:p>
          <a:p>
            <a:pPr>
              <a:spcAft>
                <a:spcPts val="400"/>
              </a:spcAft>
            </a:pPr>
            <a:r>
              <a:rPr sz="1250">
                <a:solidFill>
                  <a:srgbClr val="333333"/>
                </a:solidFill>
              </a:rPr>
              <a:t>  •  80 / 105 MGS1 samples  (76%)</a:t>
            </a:r>
          </a:p>
          <a:p>
            <a:pPr>
              <a:spcAft>
                <a:spcPts val="400"/>
              </a:spcAft>
            </a:pPr>
            <a:r>
              <a:rPr sz="1250">
                <a:solidFill>
                  <a:srgbClr val="333333"/>
                </a:solidFill>
              </a:rPr>
              <a:t>  •  35 / 61  MGS4 samples  (57%)</a:t>
            </a:r>
          </a:p>
          <a:p>
            <a:pPr>
              <a:spcAft>
                <a:spcPts val="400"/>
              </a:spcAft>
            </a:pPr>
            <a:endParaRPr sz="1250">
              <a:solidFill>
                <a:srgbClr val="333333"/>
              </a:solidFill>
            </a:endParaRPr>
          </a:p>
          <a:p>
            <a:pPr>
              <a:spcAft>
                <a:spcPts val="400"/>
              </a:spcAft>
            </a:pPr>
            <a:r>
              <a:rPr sz="1250">
                <a:solidFill>
                  <a:srgbClr val="333333"/>
                </a:solidFill>
              </a:rPr>
              <a:t>Missed nearly half of
advanced AMD cases</a:t>
            </a:r>
          </a:p>
          <a:p>
            <a:pPr>
              <a:spcAft>
                <a:spcPts val="400"/>
              </a:spcAft>
            </a:pPr>
            <a:endParaRPr sz="1250">
              <a:solidFill>
                <a:srgbClr val="333333"/>
              </a:solidFill>
            </a:endParaRPr>
          </a:p>
          <a:p>
            <a:pPr>
              <a:spcAft>
                <a:spcPts val="400"/>
              </a:spcAft>
            </a:pPr>
            <a:r>
              <a:rPr sz="1250">
                <a:solidFill>
                  <a:srgbClr val="333333"/>
                </a:solidFill>
              </a:rPr>
              <a:t>Top discriminant genes:</a:t>
            </a:r>
          </a:p>
          <a:p>
            <a:pPr>
              <a:spcAft>
                <a:spcPts val="400"/>
              </a:spcAft>
            </a:pPr>
            <a:r>
              <a:rPr sz="1250">
                <a:solidFill>
                  <a:srgbClr val="333333"/>
                </a:solidFill>
              </a:rPr>
              <a:t>  •  HLA-DRA  — higher in MGS1</a:t>
            </a:r>
          </a:p>
          <a:p>
            <a:pPr>
              <a:spcAft>
                <a:spcPts val="400"/>
              </a:spcAft>
            </a:pPr>
            <a:r>
              <a:rPr sz="1250">
                <a:solidFill>
                  <a:srgbClr val="333333"/>
                </a:solidFill>
              </a:rPr>
              <a:t>  •  MOXD1    — higher in MGS4</a:t>
            </a:r>
          </a:p>
          <a:p>
            <a:pPr>
              <a:spcAft>
                <a:spcPts val="400"/>
              </a:spcAft>
            </a:pPr>
            <a:r>
              <a:rPr sz="1250">
                <a:solidFill>
                  <a:srgbClr val="333333"/>
                </a:solidFill>
              </a:rPr>
              <a:t>  •  C1R, C1S, SLC9A9 present
     in top 20</a:t>
            </a:r>
          </a:p>
          <a:p>
            <a:pPr>
              <a:spcAft>
                <a:spcPts val="400"/>
              </a:spcAft>
            </a:pPr>
            <a:endParaRPr sz="1250">
              <a:solidFill>
                <a:srgbClr val="333333"/>
              </a:solidFill>
            </a:endParaRPr>
          </a:p>
          <a:p>
            <a:pPr>
              <a:spcAft>
                <a:spcPts val="400"/>
              </a:spcAft>
            </a:pPr>
            <a:r>
              <a:rPr sz="1250">
                <a:solidFill>
                  <a:srgbClr val="333333"/>
                </a:solidFill>
              </a:rPr>
              <a:t>Limitation: assumes a linear
boundary in 81-dimensional
gene space — likely too simple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Kernel Fisher Discriminant Analysis (KFDA)</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Allowing a curved decision boundary — does it help?</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pic>
        <p:nvPicPr>
          <p:cNvPr id="7" name="Picture 6" descr="kfda_results.png"/>
          <p:cNvPicPr>
            <a:picLocks noChangeAspect="1"/>
          </p:cNvPicPr>
          <p:nvPr/>
        </p:nvPicPr>
        <p:blipFill>
          <a:blip r:embed="rId2"/>
          <a:stretch>
            <a:fillRect/>
          </a:stretch>
        </p:blipFill>
        <p:spPr>
          <a:xfrm>
            <a:off x="228600" y="1051560"/>
            <a:ext cx="7315200" cy="5577840"/>
          </a:xfrm>
          <a:prstGeom prst="rect">
            <a:avLst/>
          </a:prstGeom>
        </p:spPr>
      </p:pic>
      <p:sp>
        <p:nvSpPr>
          <p:cNvPr id="8" name="Rectangle 7"/>
          <p:cNvSpPr/>
          <p:nvPr/>
        </p:nvSpPr>
        <p:spPr>
          <a:xfrm>
            <a:off x="7772400" y="1051560"/>
            <a:ext cx="420624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09560" y="1143000"/>
            <a:ext cx="3931920" cy="320040"/>
          </a:xfrm>
          <a:prstGeom prst="rect">
            <a:avLst/>
          </a:prstGeom>
          <a:noFill/>
        </p:spPr>
        <p:txBody>
          <a:bodyPr wrap="square">
            <a:spAutoFit/>
          </a:bodyPr>
          <a:lstStyle/>
          <a:p>
            <a:pPr algn="l"/>
            <a:r>
              <a:rPr sz="1500" b="1">
                <a:solidFill>
                  <a:srgbClr val="1A3A5C"/>
                </a:solidFill>
              </a:rPr>
              <a:t>Key Results</a:t>
            </a:r>
          </a:p>
        </p:txBody>
      </p:sp>
      <p:sp>
        <p:nvSpPr>
          <p:cNvPr id="11" name="TextBox 10"/>
          <p:cNvSpPr txBox="1"/>
          <p:nvPr/>
        </p:nvSpPr>
        <p:spPr>
          <a:xfrm>
            <a:off x="7909560" y="1536192"/>
            <a:ext cx="3931920" cy="5029200"/>
          </a:xfrm>
          <a:prstGeom prst="rect">
            <a:avLst/>
          </a:prstGeom>
          <a:noFill/>
        </p:spPr>
        <p:txBody>
          <a:bodyPr wrap="square">
            <a:spAutoFit/>
          </a:bodyPr>
          <a:lstStyle/>
          <a:p>
            <a:pPr>
              <a:spcAft>
                <a:spcPts val="400"/>
              </a:spcAft>
            </a:pPr>
            <a:r>
              <a:rPr sz="1250">
                <a:solidFill>
                  <a:srgbClr val="333333"/>
                </a:solidFill>
              </a:rPr>
              <a:t>Best kernel: RBF (γ=0.001)</a:t>
            </a:r>
          </a:p>
          <a:p>
            <a:pPr>
              <a:spcAft>
                <a:spcPts val="400"/>
              </a:spcAft>
            </a:pPr>
            <a:r>
              <a:rPr sz="1250">
                <a:solidFill>
                  <a:srgbClr val="333333"/>
                </a:solidFill>
              </a:rPr>
              <a:t>AUC = 0.798  (+16% vs LDA)</a:t>
            </a:r>
          </a:p>
          <a:p>
            <a:pPr>
              <a:spcAft>
                <a:spcPts val="400"/>
              </a:spcAft>
            </a:pPr>
            <a:endParaRPr sz="1250">
              <a:solidFill>
                <a:srgbClr val="333333"/>
              </a:solidFill>
            </a:endParaRPr>
          </a:p>
          <a:p>
            <a:pPr>
              <a:spcAft>
                <a:spcPts val="400"/>
              </a:spcAft>
            </a:pPr>
            <a:r>
              <a:rPr sz="1250">
                <a:solidFill>
                  <a:srgbClr val="333333"/>
                </a:solidFill>
              </a:rPr>
              <a:t>Correctly identified:</a:t>
            </a:r>
          </a:p>
          <a:p>
            <a:pPr>
              <a:spcAft>
                <a:spcPts val="400"/>
              </a:spcAft>
            </a:pPr>
            <a:r>
              <a:rPr sz="1250">
                <a:solidFill>
                  <a:srgbClr val="333333"/>
                </a:solidFill>
              </a:rPr>
              <a:t>  •  76 / 105 MGS1  (72%)</a:t>
            </a:r>
          </a:p>
          <a:p>
            <a:pPr>
              <a:spcAft>
                <a:spcPts val="400"/>
              </a:spcAft>
            </a:pPr>
            <a:r>
              <a:rPr sz="1250">
                <a:solidFill>
                  <a:srgbClr val="333333"/>
                </a:solidFill>
              </a:rPr>
              <a:t>  •  41 / 61  MGS4  (67%)</a:t>
            </a:r>
          </a:p>
          <a:p>
            <a:pPr>
              <a:spcAft>
                <a:spcPts val="400"/>
              </a:spcAft>
            </a:pPr>
            <a:endParaRPr sz="1250">
              <a:solidFill>
                <a:srgbClr val="333333"/>
              </a:solidFill>
            </a:endParaRPr>
          </a:p>
          <a:p>
            <a:pPr>
              <a:spcAft>
                <a:spcPts val="400"/>
              </a:spcAft>
            </a:pPr>
            <a:r>
              <a:rPr sz="1250">
                <a:solidFill>
                  <a:srgbClr val="333333"/>
                </a:solidFill>
              </a:rPr>
              <a:t>MGS4 sensitivity improved
from 57% → 67% vs LDA</a:t>
            </a:r>
          </a:p>
          <a:p>
            <a:pPr>
              <a:spcAft>
                <a:spcPts val="400"/>
              </a:spcAft>
            </a:pPr>
            <a:endParaRPr sz="1250">
              <a:solidFill>
                <a:srgbClr val="333333"/>
              </a:solidFill>
            </a:endParaRPr>
          </a:p>
          <a:p>
            <a:pPr>
              <a:spcAft>
                <a:spcPts val="400"/>
              </a:spcAft>
            </a:pPr>
            <a:r>
              <a:rPr sz="1250">
                <a:solidFill>
                  <a:srgbClr val="333333"/>
                </a:solidFill>
              </a:rPr>
              <a:t>Four kernels tested:</a:t>
            </a:r>
          </a:p>
          <a:p>
            <a:pPr>
              <a:spcAft>
                <a:spcPts val="400"/>
              </a:spcAft>
            </a:pPr>
            <a:r>
              <a:rPr sz="1250">
                <a:solidFill>
                  <a:srgbClr val="333333"/>
                </a:solidFill>
              </a:rPr>
              <a:t>  •  RBF γ=0.001   0.798  ✓ best</a:t>
            </a:r>
          </a:p>
          <a:p>
            <a:pPr>
              <a:spcAft>
                <a:spcPts val="400"/>
              </a:spcAft>
            </a:pPr>
            <a:r>
              <a:rPr sz="1250">
                <a:solidFill>
                  <a:srgbClr val="333333"/>
                </a:solidFill>
              </a:rPr>
              <a:t>  •  RBF γ=0.01    0.771</a:t>
            </a:r>
          </a:p>
          <a:p>
            <a:pPr>
              <a:spcAft>
                <a:spcPts val="400"/>
              </a:spcAft>
            </a:pPr>
            <a:r>
              <a:rPr sz="1250">
                <a:solidFill>
                  <a:srgbClr val="333333"/>
                </a:solidFill>
              </a:rPr>
              <a:t>  •  Linear         0.691</a:t>
            </a:r>
          </a:p>
          <a:p>
            <a:pPr>
              <a:spcAft>
                <a:spcPts val="400"/>
              </a:spcAft>
            </a:pPr>
            <a:r>
              <a:rPr sz="1250">
                <a:solidFill>
                  <a:srgbClr val="333333"/>
                </a:solidFill>
              </a:rPr>
              <a:t>  •  Polynomial     0.654</a:t>
            </a:r>
          </a:p>
          <a:p>
            <a:pPr>
              <a:spcAft>
                <a:spcPts val="400"/>
              </a:spcAft>
            </a:pPr>
            <a:endParaRPr sz="1250">
              <a:solidFill>
                <a:srgbClr val="333333"/>
              </a:solidFill>
            </a:endParaRPr>
          </a:p>
          <a:p>
            <a:pPr>
              <a:spcAft>
                <a:spcPts val="400"/>
              </a:spcAft>
            </a:pPr>
            <a:r>
              <a:rPr sz="1250">
                <a:solidFill>
                  <a:srgbClr val="333333"/>
                </a:solidFill>
              </a:rPr>
              <a:t>RBF kernel captures non-linear
gene interaction patterns
that LDA cannot detect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LDA vs KFDA — What the Difference Tells Us</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The improvement reveals something important about AMD biology</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74320" y="1097280"/>
            <a:ext cx="5669280" cy="5120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5669280" cy="4572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79" y="1124712"/>
            <a:ext cx="5303520" cy="384048"/>
          </a:xfrm>
          <a:prstGeom prst="rect">
            <a:avLst/>
          </a:prstGeom>
          <a:noFill/>
        </p:spPr>
        <p:txBody>
          <a:bodyPr wrap="square">
            <a:spAutoFit/>
          </a:bodyPr>
          <a:lstStyle/>
          <a:p>
            <a:pPr algn="l"/>
            <a:r>
              <a:rPr sz="1800" b="1">
                <a:solidFill>
                  <a:srgbClr val="FFFFFF"/>
                </a:solidFill>
              </a:rPr>
              <a:t>LDA</a:t>
            </a:r>
          </a:p>
        </p:txBody>
      </p:sp>
      <p:sp>
        <p:nvSpPr>
          <p:cNvPr id="10" name="Rectangle 9"/>
          <p:cNvSpPr/>
          <p:nvPr/>
        </p:nvSpPr>
        <p:spPr>
          <a:xfrm>
            <a:off x="6126480" y="1097280"/>
            <a:ext cx="5669280" cy="5120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0" y="1097280"/>
            <a:ext cx="5669280" cy="457200"/>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124712"/>
            <a:ext cx="5303520" cy="384048"/>
          </a:xfrm>
          <a:prstGeom prst="rect">
            <a:avLst/>
          </a:prstGeom>
          <a:noFill/>
        </p:spPr>
        <p:txBody>
          <a:bodyPr wrap="square">
            <a:spAutoFit/>
          </a:bodyPr>
          <a:lstStyle/>
          <a:p>
            <a:pPr algn="l"/>
            <a:r>
              <a:rPr sz="1800" b="1">
                <a:solidFill>
                  <a:srgbClr val="FFFFFF"/>
                </a:solidFill>
              </a:rPr>
              <a:t>KFDA  (RBF)</a:t>
            </a:r>
          </a:p>
        </p:txBody>
      </p:sp>
      <p:sp>
        <p:nvSpPr>
          <p:cNvPr id="13" name="Rectangle 12"/>
          <p:cNvSpPr/>
          <p:nvPr/>
        </p:nvSpPr>
        <p:spPr>
          <a:xfrm>
            <a:off x="274320" y="1691640"/>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26480" y="1691640"/>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01368"/>
            <a:ext cx="1645920" cy="411480"/>
          </a:xfrm>
          <a:prstGeom prst="rect">
            <a:avLst/>
          </a:prstGeom>
          <a:noFill/>
        </p:spPr>
        <p:txBody>
          <a:bodyPr wrap="square">
            <a:spAutoFit/>
          </a:bodyPr>
          <a:lstStyle/>
          <a:p>
            <a:pPr algn="l"/>
            <a:r>
              <a:rPr sz="1300" b="1">
                <a:solidFill>
                  <a:srgbClr val="1A3A5C"/>
                </a:solidFill>
              </a:rPr>
              <a:t>AUC</a:t>
            </a:r>
          </a:p>
        </p:txBody>
      </p:sp>
      <p:sp>
        <p:nvSpPr>
          <p:cNvPr id="16" name="TextBox 15"/>
          <p:cNvSpPr txBox="1"/>
          <p:nvPr/>
        </p:nvSpPr>
        <p:spPr>
          <a:xfrm>
            <a:off x="2103120" y="1801368"/>
            <a:ext cx="3749039" cy="411480"/>
          </a:xfrm>
          <a:prstGeom prst="rect">
            <a:avLst/>
          </a:prstGeom>
          <a:noFill/>
        </p:spPr>
        <p:txBody>
          <a:bodyPr wrap="square">
            <a:spAutoFit/>
          </a:bodyPr>
          <a:lstStyle/>
          <a:p>
            <a:pPr algn="l"/>
            <a:r>
              <a:rPr sz="1300" b="0">
                <a:solidFill>
                  <a:srgbClr val="333333"/>
                </a:solidFill>
              </a:rPr>
              <a:t>0.689</a:t>
            </a:r>
          </a:p>
        </p:txBody>
      </p:sp>
      <p:sp>
        <p:nvSpPr>
          <p:cNvPr id="17" name="TextBox 16"/>
          <p:cNvSpPr txBox="1"/>
          <p:nvPr/>
        </p:nvSpPr>
        <p:spPr>
          <a:xfrm>
            <a:off x="6263640" y="1801368"/>
            <a:ext cx="5394960" cy="411480"/>
          </a:xfrm>
          <a:prstGeom prst="rect">
            <a:avLst/>
          </a:prstGeom>
          <a:noFill/>
        </p:spPr>
        <p:txBody>
          <a:bodyPr wrap="square">
            <a:spAutoFit/>
          </a:bodyPr>
          <a:lstStyle/>
          <a:p>
            <a:pPr algn="l"/>
            <a:r>
              <a:rPr sz="1300" b="0">
                <a:solidFill>
                  <a:srgbClr val="333333"/>
                </a:solidFill>
              </a:rPr>
              <a:t>0.798</a:t>
            </a:r>
          </a:p>
        </p:txBody>
      </p:sp>
      <p:sp>
        <p:nvSpPr>
          <p:cNvPr id="18" name="Rectangle 17"/>
          <p:cNvSpPr/>
          <p:nvPr/>
        </p:nvSpPr>
        <p:spPr>
          <a:xfrm>
            <a:off x="274320" y="2350008"/>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26480" y="2350008"/>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2459736"/>
            <a:ext cx="1645920" cy="411480"/>
          </a:xfrm>
          <a:prstGeom prst="rect">
            <a:avLst/>
          </a:prstGeom>
          <a:noFill/>
        </p:spPr>
        <p:txBody>
          <a:bodyPr wrap="square">
            <a:spAutoFit/>
          </a:bodyPr>
          <a:lstStyle/>
          <a:p>
            <a:pPr algn="l"/>
            <a:r>
              <a:rPr sz="1300" b="1">
                <a:solidFill>
                  <a:srgbClr val="1A3A5C"/>
                </a:solidFill>
              </a:rPr>
              <a:t>MGS4 sensitivity</a:t>
            </a:r>
          </a:p>
        </p:txBody>
      </p:sp>
      <p:sp>
        <p:nvSpPr>
          <p:cNvPr id="21" name="TextBox 20"/>
          <p:cNvSpPr txBox="1"/>
          <p:nvPr/>
        </p:nvSpPr>
        <p:spPr>
          <a:xfrm>
            <a:off x="2103120" y="2459736"/>
            <a:ext cx="3749039" cy="411480"/>
          </a:xfrm>
          <a:prstGeom prst="rect">
            <a:avLst/>
          </a:prstGeom>
          <a:noFill/>
        </p:spPr>
        <p:txBody>
          <a:bodyPr wrap="square">
            <a:spAutoFit/>
          </a:bodyPr>
          <a:lstStyle/>
          <a:p>
            <a:pPr algn="l"/>
            <a:r>
              <a:rPr sz="1300" b="0">
                <a:solidFill>
                  <a:srgbClr val="333333"/>
                </a:solidFill>
              </a:rPr>
              <a:t>57%</a:t>
            </a:r>
          </a:p>
        </p:txBody>
      </p:sp>
      <p:sp>
        <p:nvSpPr>
          <p:cNvPr id="22" name="TextBox 21"/>
          <p:cNvSpPr txBox="1"/>
          <p:nvPr/>
        </p:nvSpPr>
        <p:spPr>
          <a:xfrm>
            <a:off x="6263640" y="2459736"/>
            <a:ext cx="5394960" cy="411480"/>
          </a:xfrm>
          <a:prstGeom prst="rect">
            <a:avLst/>
          </a:prstGeom>
          <a:noFill/>
        </p:spPr>
        <p:txBody>
          <a:bodyPr wrap="square">
            <a:spAutoFit/>
          </a:bodyPr>
          <a:lstStyle/>
          <a:p>
            <a:pPr algn="l"/>
            <a:r>
              <a:rPr sz="1300" b="0">
                <a:solidFill>
                  <a:srgbClr val="333333"/>
                </a:solidFill>
              </a:rPr>
              <a:t>67%</a:t>
            </a:r>
          </a:p>
        </p:txBody>
      </p:sp>
      <p:sp>
        <p:nvSpPr>
          <p:cNvPr id="23" name="Rectangle 22"/>
          <p:cNvSpPr/>
          <p:nvPr/>
        </p:nvSpPr>
        <p:spPr>
          <a:xfrm>
            <a:off x="274320" y="3008376"/>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26480" y="3008376"/>
            <a:ext cx="56692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3118104"/>
            <a:ext cx="1645920" cy="411480"/>
          </a:xfrm>
          <a:prstGeom prst="rect">
            <a:avLst/>
          </a:prstGeom>
          <a:noFill/>
        </p:spPr>
        <p:txBody>
          <a:bodyPr wrap="square">
            <a:spAutoFit/>
          </a:bodyPr>
          <a:lstStyle/>
          <a:p>
            <a:pPr algn="l"/>
            <a:r>
              <a:rPr sz="1300" b="1">
                <a:solidFill>
                  <a:srgbClr val="1A3A5C"/>
                </a:solidFill>
              </a:rPr>
              <a:t>Decision boundary</a:t>
            </a:r>
          </a:p>
        </p:txBody>
      </p:sp>
      <p:sp>
        <p:nvSpPr>
          <p:cNvPr id="26" name="TextBox 25"/>
          <p:cNvSpPr txBox="1"/>
          <p:nvPr/>
        </p:nvSpPr>
        <p:spPr>
          <a:xfrm>
            <a:off x="2103120" y="3118104"/>
            <a:ext cx="3749039" cy="411480"/>
          </a:xfrm>
          <a:prstGeom prst="rect">
            <a:avLst/>
          </a:prstGeom>
          <a:noFill/>
        </p:spPr>
        <p:txBody>
          <a:bodyPr wrap="square">
            <a:spAutoFit/>
          </a:bodyPr>
          <a:lstStyle/>
          <a:p>
            <a:pPr algn="l"/>
            <a:r>
              <a:rPr sz="1300" b="0">
                <a:solidFill>
                  <a:srgbClr val="333333"/>
                </a:solidFill>
              </a:rPr>
              <a:t>Linear</a:t>
            </a:r>
          </a:p>
        </p:txBody>
      </p:sp>
      <p:sp>
        <p:nvSpPr>
          <p:cNvPr id="27" name="TextBox 26"/>
          <p:cNvSpPr txBox="1"/>
          <p:nvPr/>
        </p:nvSpPr>
        <p:spPr>
          <a:xfrm>
            <a:off x="6263640" y="3118104"/>
            <a:ext cx="5394960" cy="411480"/>
          </a:xfrm>
          <a:prstGeom prst="rect">
            <a:avLst/>
          </a:prstGeom>
          <a:noFill/>
        </p:spPr>
        <p:txBody>
          <a:bodyPr wrap="square">
            <a:spAutoFit/>
          </a:bodyPr>
          <a:lstStyle/>
          <a:p>
            <a:pPr algn="l"/>
            <a:r>
              <a:rPr sz="1300" b="0">
                <a:solidFill>
                  <a:srgbClr val="333333"/>
                </a:solidFill>
              </a:rPr>
              <a:t>Curved (RBF kernel)</a:t>
            </a:r>
          </a:p>
        </p:txBody>
      </p:sp>
      <p:sp>
        <p:nvSpPr>
          <p:cNvPr id="28" name="Rectangle 27"/>
          <p:cNvSpPr/>
          <p:nvPr/>
        </p:nvSpPr>
        <p:spPr>
          <a:xfrm>
            <a:off x="274320" y="3666744"/>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0" y="3666744"/>
            <a:ext cx="5669280" cy="59436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3776472"/>
            <a:ext cx="1645920" cy="411480"/>
          </a:xfrm>
          <a:prstGeom prst="rect">
            <a:avLst/>
          </a:prstGeom>
          <a:noFill/>
        </p:spPr>
        <p:txBody>
          <a:bodyPr wrap="square">
            <a:spAutoFit/>
          </a:bodyPr>
          <a:lstStyle/>
          <a:p>
            <a:pPr algn="l"/>
            <a:r>
              <a:rPr sz="1300" b="1">
                <a:solidFill>
                  <a:srgbClr val="1A3A5C"/>
                </a:solidFill>
              </a:rPr>
              <a:t>Best for</a:t>
            </a:r>
          </a:p>
        </p:txBody>
      </p:sp>
      <p:sp>
        <p:nvSpPr>
          <p:cNvPr id="31" name="TextBox 30"/>
          <p:cNvSpPr txBox="1"/>
          <p:nvPr/>
        </p:nvSpPr>
        <p:spPr>
          <a:xfrm>
            <a:off x="2103120" y="3776472"/>
            <a:ext cx="3749039" cy="411480"/>
          </a:xfrm>
          <a:prstGeom prst="rect">
            <a:avLst/>
          </a:prstGeom>
          <a:noFill/>
        </p:spPr>
        <p:txBody>
          <a:bodyPr wrap="square">
            <a:spAutoFit/>
          </a:bodyPr>
          <a:lstStyle/>
          <a:p>
            <a:pPr algn="l"/>
            <a:r>
              <a:rPr sz="1300" b="0">
                <a:solidFill>
                  <a:srgbClr val="333333"/>
                </a:solidFill>
              </a:rPr>
              <a:t>Speed / interpretability</a:t>
            </a:r>
          </a:p>
        </p:txBody>
      </p:sp>
      <p:sp>
        <p:nvSpPr>
          <p:cNvPr id="32" name="TextBox 31"/>
          <p:cNvSpPr txBox="1"/>
          <p:nvPr/>
        </p:nvSpPr>
        <p:spPr>
          <a:xfrm>
            <a:off x="6263640" y="3776472"/>
            <a:ext cx="5394960" cy="411480"/>
          </a:xfrm>
          <a:prstGeom prst="rect">
            <a:avLst/>
          </a:prstGeom>
          <a:noFill/>
        </p:spPr>
        <p:txBody>
          <a:bodyPr wrap="square">
            <a:spAutoFit/>
          </a:bodyPr>
          <a:lstStyle/>
          <a:p>
            <a:pPr algn="l"/>
            <a:r>
              <a:rPr sz="1300" b="0">
                <a:solidFill>
                  <a:srgbClr val="333333"/>
                </a:solidFill>
              </a:rPr>
              <a:t>Accuracy / non-linear patterns</a:t>
            </a:r>
          </a:p>
        </p:txBody>
      </p:sp>
      <p:sp>
        <p:nvSpPr>
          <p:cNvPr id="33" name="Rectangle 32"/>
          <p:cNvSpPr/>
          <p:nvPr/>
        </p:nvSpPr>
        <p:spPr>
          <a:xfrm>
            <a:off x="274320" y="4325112"/>
            <a:ext cx="11521440" cy="173736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4407408"/>
            <a:ext cx="4572000" cy="320040"/>
          </a:xfrm>
          <a:prstGeom prst="rect">
            <a:avLst/>
          </a:prstGeom>
          <a:noFill/>
        </p:spPr>
        <p:txBody>
          <a:bodyPr wrap="square">
            <a:spAutoFit/>
          </a:bodyPr>
          <a:lstStyle/>
          <a:p>
            <a:pPr algn="l"/>
            <a:r>
              <a:rPr sz="1400" b="1">
                <a:solidFill>
                  <a:srgbClr val="1A3A5C"/>
                </a:solidFill>
              </a:rPr>
              <a:t>Biological implication</a:t>
            </a:r>
          </a:p>
        </p:txBody>
      </p:sp>
      <p:sp>
        <p:nvSpPr>
          <p:cNvPr id="35" name="TextBox 34"/>
          <p:cNvSpPr txBox="1"/>
          <p:nvPr/>
        </p:nvSpPr>
        <p:spPr>
          <a:xfrm>
            <a:off x="457200" y="4727448"/>
            <a:ext cx="11064240" cy="1234440"/>
          </a:xfrm>
          <a:prstGeom prst="rect">
            <a:avLst/>
          </a:prstGeom>
          <a:noFill/>
        </p:spPr>
        <p:txBody>
          <a:bodyPr wrap="square">
            <a:spAutoFit/>
          </a:bodyPr>
          <a:lstStyle/>
          <a:p>
            <a:pPr algn="l"/>
            <a:r>
              <a:rPr sz="1300" b="0">
                <a:solidFill>
                  <a:srgbClr val="333333"/>
                </a:solidFill>
              </a:rPr>
              <a:t>The 16% AUC gain from LDA → KFDA means the boundary between early and advanced AMD in gene expression space is curved, not straight. Gene effects are not simply additive — they interact. This is consistent with the network rewiring seen in the bHUB analysis: it is not one gene changing, it is an entire co-expression module reorganising.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Bayesian Hub Analysis (bHUB)</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Identifying which genes act as central connectors in each disease stage</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TextBox 6"/>
          <p:cNvSpPr txBox="1"/>
          <p:nvPr/>
        </p:nvSpPr>
        <p:spPr>
          <a:xfrm>
            <a:off x="365760" y="1143000"/>
            <a:ext cx="7315200" cy="347472"/>
          </a:xfrm>
          <a:prstGeom prst="rect">
            <a:avLst/>
          </a:prstGeom>
          <a:noFill/>
        </p:spPr>
        <p:txBody>
          <a:bodyPr wrap="square">
            <a:spAutoFit/>
          </a:bodyPr>
          <a:lstStyle/>
          <a:p>
            <a:pPr algn="l"/>
            <a:r>
              <a:rPr sz="1500" b="1">
                <a:solidFill>
                  <a:srgbClr val="1A3A5C"/>
                </a:solidFill>
              </a:rPr>
              <a:t>What is a hub gene?</a:t>
            </a:r>
          </a:p>
        </p:txBody>
      </p:sp>
      <p:sp>
        <p:nvSpPr>
          <p:cNvPr id="8" name="Rectangle 7"/>
          <p:cNvSpPr/>
          <p:nvPr/>
        </p:nvSpPr>
        <p:spPr>
          <a:xfrm>
            <a:off x="274320" y="1508760"/>
            <a:ext cx="11612880" cy="27432"/>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554480"/>
            <a:ext cx="11430000" cy="822960"/>
          </a:xfrm>
          <a:prstGeom prst="rect">
            <a:avLst/>
          </a:prstGeom>
          <a:noFill/>
        </p:spPr>
        <p:txBody>
          <a:bodyPr wrap="square">
            <a:spAutoFit/>
          </a:bodyPr>
          <a:lstStyle/>
          <a:p>
            <a:pPr algn="l"/>
            <a:r>
              <a:rPr sz="1400" b="0">
                <a:solidFill>
                  <a:srgbClr val="333333"/>
                </a:solidFill>
              </a:rPr>
              <a:t>In a co-expression network, genes are nodes and edges represent correlated expression. A hub gene connects to many others — it coordinates the activity of a large group of genes. If a hub is disrupted, it affects the entire module it controls.</a:t>
            </a:r>
          </a:p>
        </p:txBody>
      </p:sp>
      <p:sp>
        <p:nvSpPr>
          <p:cNvPr id="10" name="TextBox 9"/>
          <p:cNvSpPr txBox="1"/>
          <p:nvPr/>
        </p:nvSpPr>
        <p:spPr>
          <a:xfrm>
            <a:off x="365760" y="2514600"/>
            <a:ext cx="7315200" cy="347472"/>
          </a:xfrm>
          <a:prstGeom prst="rect">
            <a:avLst/>
          </a:prstGeom>
          <a:noFill/>
        </p:spPr>
        <p:txBody>
          <a:bodyPr wrap="square">
            <a:spAutoFit/>
          </a:bodyPr>
          <a:lstStyle/>
          <a:p>
            <a:pPr algn="l"/>
            <a:r>
              <a:rPr sz="1500" b="1">
                <a:solidFill>
                  <a:srgbClr val="1A3A5C"/>
                </a:solidFill>
              </a:rPr>
              <a:t>What does bHUB do?</a:t>
            </a:r>
          </a:p>
        </p:txBody>
      </p:sp>
      <p:sp>
        <p:nvSpPr>
          <p:cNvPr id="11" name="Rectangle 10"/>
          <p:cNvSpPr/>
          <p:nvPr/>
        </p:nvSpPr>
        <p:spPr>
          <a:xfrm>
            <a:off x="274320" y="2880360"/>
            <a:ext cx="11612880" cy="27432"/>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971800"/>
            <a:ext cx="3749039" cy="2103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 y="2971800"/>
            <a:ext cx="3749039" cy="109728"/>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108960"/>
            <a:ext cx="3474720" cy="868680"/>
          </a:xfrm>
          <a:prstGeom prst="rect">
            <a:avLst/>
          </a:prstGeom>
          <a:noFill/>
        </p:spPr>
        <p:txBody>
          <a:bodyPr wrap="square">
            <a:spAutoFit/>
          </a:bodyPr>
          <a:lstStyle/>
          <a:p>
            <a:pPr algn="l"/>
            <a:r>
              <a:rPr sz="1300" b="1">
                <a:solidFill>
                  <a:srgbClr val="333333"/>
                </a:solidFill>
              </a:rPr>
              <a:t>Builds a separate
co-expression network
for MGS1 and MGS4</a:t>
            </a:r>
          </a:p>
        </p:txBody>
      </p:sp>
      <p:sp>
        <p:nvSpPr>
          <p:cNvPr id="15" name="TextBox 14"/>
          <p:cNvSpPr txBox="1"/>
          <p:nvPr/>
        </p:nvSpPr>
        <p:spPr>
          <a:xfrm>
            <a:off x="502920" y="4005072"/>
            <a:ext cx="3474720" cy="868680"/>
          </a:xfrm>
          <a:prstGeom prst="rect">
            <a:avLst/>
          </a:prstGeom>
          <a:noFill/>
        </p:spPr>
        <p:txBody>
          <a:bodyPr wrap="square">
            <a:spAutoFit/>
          </a:bodyPr>
          <a:lstStyle/>
          <a:p>
            <a:pPr algn="l"/>
            <a:r>
              <a:rPr sz="1200" b="0">
                <a:solidFill>
                  <a:srgbClr val="888888"/>
                </a:solidFill>
              </a:rPr>
              <a:t>Uses all 105 MGS1 and
61 MGS4 samples</a:t>
            </a:r>
          </a:p>
        </p:txBody>
      </p:sp>
      <p:sp>
        <p:nvSpPr>
          <p:cNvPr id="16" name="Rectangle 15"/>
          <p:cNvSpPr/>
          <p:nvPr/>
        </p:nvSpPr>
        <p:spPr>
          <a:xfrm>
            <a:off x="4297680" y="2971800"/>
            <a:ext cx="3749039" cy="2103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97680" y="2971800"/>
            <a:ext cx="3749039" cy="109728"/>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3108960"/>
            <a:ext cx="3474720" cy="868680"/>
          </a:xfrm>
          <a:prstGeom prst="rect">
            <a:avLst/>
          </a:prstGeom>
          <a:noFill/>
        </p:spPr>
        <p:txBody>
          <a:bodyPr wrap="square">
            <a:spAutoFit/>
          </a:bodyPr>
          <a:lstStyle/>
          <a:p>
            <a:pPr algn="l"/>
            <a:r>
              <a:rPr sz="1300" b="1">
                <a:solidFill>
                  <a:srgbClr val="333333"/>
                </a:solidFill>
              </a:rPr>
              <a:t>Identifies hub genes
in each network with
a probability score</a:t>
            </a:r>
          </a:p>
        </p:txBody>
      </p:sp>
      <p:sp>
        <p:nvSpPr>
          <p:cNvPr id="19" name="TextBox 18"/>
          <p:cNvSpPr txBox="1"/>
          <p:nvPr/>
        </p:nvSpPr>
        <p:spPr>
          <a:xfrm>
            <a:off x="4434840" y="4005072"/>
            <a:ext cx="3474720" cy="868680"/>
          </a:xfrm>
          <a:prstGeom prst="rect">
            <a:avLst/>
          </a:prstGeom>
          <a:noFill/>
        </p:spPr>
        <p:txBody>
          <a:bodyPr wrap="square">
            <a:spAutoFit/>
          </a:bodyPr>
          <a:lstStyle/>
          <a:p>
            <a:pPr algn="l"/>
            <a:r>
              <a:rPr sz="1200" b="0">
                <a:solidFill>
                  <a:srgbClr val="888888"/>
                </a:solidFill>
              </a:rPr>
              <a:t>PPI = posterior probability
of being a hub (0 to 1)</a:t>
            </a:r>
          </a:p>
        </p:txBody>
      </p:sp>
      <p:sp>
        <p:nvSpPr>
          <p:cNvPr id="20" name="Rectangle 19"/>
          <p:cNvSpPr/>
          <p:nvPr/>
        </p:nvSpPr>
        <p:spPr>
          <a:xfrm>
            <a:off x="8229600" y="2971800"/>
            <a:ext cx="3749039" cy="21031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0" y="2971800"/>
            <a:ext cx="3749039" cy="109728"/>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66760" y="3108960"/>
            <a:ext cx="3474720" cy="868680"/>
          </a:xfrm>
          <a:prstGeom prst="rect">
            <a:avLst/>
          </a:prstGeom>
          <a:noFill/>
        </p:spPr>
        <p:txBody>
          <a:bodyPr wrap="square">
            <a:spAutoFit/>
          </a:bodyPr>
          <a:lstStyle/>
          <a:p>
            <a:pPr algn="l"/>
            <a:r>
              <a:rPr sz="1300" b="1">
                <a:solidFill>
                  <a:srgbClr val="333333"/>
                </a:solidFill>
              </a:rPr>
              <a:t>Links the two networks
via a sharing parameter τ</a:t>
            </a:r>
          </a:p>
        </p:txBody>
      </p:sp>
      <p:sp>
        <p:nvSpPr>
          <p:cNvPr id="23" name="TextBox 22"/>
          <p:cNvSpPr txBox="1"/>
          <p:nvPr/>
        </p:nvSpPr>
        <p:spPr>
          <a:xfrm>
            <a:off x="8366760" y="4005072"/>
            <a:ext cx="3474720" cy="868680"/>
          </a:xfrm>
          <a:prstGeom prst="rect">
            <a:avLst/>
          </a:prstGeom>
          <a:noFill/>
        </p:spPr>
        <p:txBody>
          <a:bodyPr wrap="square">
            <a:spAutoFit/>
          </a:bodyPr>
          <a:lstStyle/>
          <a:p>
            <a:pPr algn="l"/>
            <a:r>
              <a:rPr sz="1200" b="0">
                <a:solidFill>
                  <a:srgbClr val="888888"/>
                </a:solidFill>
              </a:rPr>
              <a:t>Genes that are hubs in
both groups = co-hubs</a:t>
            </a:r>
          </a:p>
        </p:txBody>
      </p:sp>
      <p:sp>
        <p:nvSpPr>
          <p:cNvPr id="24" name="TextBox 23"/>
          <p:cNvSpPr txBox="1"/>
          <p:nvPr/>
        </p:nvSpPr>
        <p:spPr>
          <a:xfrm>
            <a:off x="365760" y="5212080"/>
            <a:ext cx="4572000" cy="320040"/>
          </a:xfrm>
          <a:prstGeom prst="rect">
            <a:avLst/>
          </a:prstGeom>
          <a:noFill/>
        </p:spPr>
        <p:txBody>
          <a:bodyPr wrap="square">
            <a:spAutoFit/>
          </a:bodyPr>
          <a:lstStyle/>
          <a:p>
            <a:pPr algn="l"/>
            <a:r>
              <a:rPr sz="1400" b="1">
                <a:solidFill>
                  <a:srgbClr val="1A3A5C"/>
                </a:solidFill>
              </a:rPr>
              <a:t>Hub classification rule</a:t>
            </a:r>
          </a:p>
        </p:txBody>
      </p:sp>
      <p:sp>
        <p:nvSpPr>
          <p:cNvPr id="25" name="TextBox 24"/>
          <p:cNvSpPr txBox="1"/>
          <p:nvPr/>
        </p:nvSpPr>
        <p:spPr>
          <a:xfrm>
            <a:off x="365760" y="5541264"/>
            <a:ext cx="11430000" cy="640080"/>
          </a:xfrm>
          <a:prstGeom prst="rect">
            <a:avLst/>
          </a:prstGeom>
          <a:noFill/>
        </p:spPr>
        <p:txBody>
          <a:bodyPr wrap="square">
            <a:spAutoFit/>
          </a:bodyPr>
          <a:lstStyle/>
          <a:p>
            <a:pPr algn="l"/>
            <a:r>
              <a:rPr sz="1300" b="0">
                <a:solidFill>
                  <a:srgbClr val="333333"/>
                </a:solidFill>
              </a:rPr>
              <a:t>A gene is declared a hub if its posterior probability (PPI) ≥ 0.5. This means the data provides stronger evidence for hub status than against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461665"/>
          </a:xfrm>
          <a:prstGeom prst="rect">
            <a:avLst/>
          </a:prstGeom>
          <a:noFill/>
        </p:spPr>
        <p:txBody>
          <a:bodyPr wrap="square">
            <a:spAutoFit/>
          </a:bodyPr>
          <a:lstStyle/>
          <a:p>
            <a:pPr algn="l"/>
            <a:r>
              <a:rPr sz="2400" b="1" dirty="0" err="1">
                <a:solidFill>
                  <a:srgbClr val="FFFFFF"/>
                </a:solidFill>
              </a:rPr>
              <a:t>bHUB</a:t>
            </a:r>
            <a:r>
              <a:rPr sz="2400" b="1" dirty="0">
                <a:solidFill>
                  <a:srgbClr val="FFFFFF"/>
                </a:solidFill>
              </a:rPr>
              <a:t>: MCMC Convergence — The Algorithm Worked Correctly</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Before trusting the results, we verify the sampler behaved well</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28600" y="1051560"/>
            <a:ext cx="7132320" cy="53035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89520" y="1051560"/>
            <a:ext cx="4389120" cy="530352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26679" y="1143000"/>
            <a:ext cx="4114800" cy="320040"/>
          </a:xfrm>
          <a:prstGeom prst="rect">
            <a:avLst/>
          </a:prstGeom>
          <a:noFill/>
        </p:spPr>
        <p:txBody>
          <a:bodyPr wrap="square">
            <a:spAutoFit/>
          </a:bodyPr>
          <a:lstStyle/>
          <a:p>
            <a:pPr algn="l"/>
            <a:r>
              <a:rPr sz="1400" b="1">
                <a:solidFill>
                  <a:srgbClr val="1A3A5C"/>
                </a:solidFill>
              </a:rPr>
              <a:t>What to look for</a:t>
            </a:r>
          </a:p>
        </p:txBody>
      </p:sp>
      <p:sp>
        <p:nvSpPr>
          <p:cNvPr id="12" name="TextBox 11"/>
          <p:cNvSpPr txBox="1"/>
          <p:nvPr/>
        </p:nvSpPr>
        <p:spPr>
          <a:xfrm>
            <a:off x="7726679" y="1536192"/>
            <a:ext cx="4114800" cy="4754880"/>
          </a:xfrm>
          <a:prstGeom prst="rect">
            <a:avLst/>
          </a:prstGeom>
          <a:noFill/>
        </p:spPr>
        <p:txBody>
          <a:bodyPr wrap="square">
            <a:spAutoFit/>
          </a:bodyPr>
          <a:lstStyle/>
          <a:p>
            <a:pPr>
              <a:spcAft>
                <a:spcPts val="400"/>
              </a:spcAft>
            </a:pPr>
            <a:r>
              <a:rPr sz="1200">
                <a:solidFill>
                  <a:srgbClr val="333333"/>
                </a:solidFill>
              </a:rPr>
              <a:t>Traces (top panels):</a:t>
            </a:r>
          </a:p>
          <a:p>
            <a:pPr>
              <a:spcAft>
                <a:spcPts val="400"/>
              </a:spcAft>
            </a:pPr>
            <a:r>
              <a:rPr sz="1200">
                <a:solidFill>
                  <a:srgbClr val="333333"/>
                </a:solidFill>
              </a:rPr>
              <a:t>  Flat and noisy after the
  red dashed line = good.
  No drift = converged.</a:t>
            </a:r>
          </a:p>
          <a:p>
            <a:pPr>
              <a:spcAft>
                <a:spcPts val="400"/>
              </a:spcAft>
            </a:pPr>
            <a:endParaRPr sz="1200">
              <a:solidFill>
                <a:srgbClr val="333333"/>
              </a:solidFill>
            </a:endParaRPr>
          </a:p>
          <a:p>
            <a:pPr>
              <a:spcAft>
                <a:spcPts val="400"/>
              </a:spcAft>
            </a:pPr>
            <a:r>
              <a:rPr sz="1200">
                <a:solidFill>
                  <a:srgbClr val="333333"/>
                </a:solidFill>
              </a:rPr>
              <a:t>τ  ≈  3.0  (posterior mean)</a:t>
            </a:r>
          </a:p>
          <a:p>
            <a:pPr>
              <a:spcAft>
                <a:spcPts val="400"/>
              </a:spcAft>
            </a:pPr>
            <a:r>
              <a:rPr sz="1200">
                <a:solidFill>
                  <a:srgbClr val="333333"/>
                </a:solidFill>
              </a:rPr>
              <a:t>  Strong evidence for hub
  sharing between MGS1
  and MGS4</a:t>
            </a:r>
          </a:p>
          <a:p>
            <a:pPr>
              <a:spcAft>
                <a:spcPts val="400"/>
              </a:spcAft>
            </a:pPr>
            <a:endParaRPr sz="1200">
              <a:solidFill>
                <a:srgbClr val="333333"/>
              </a:solidFill>
            </a:endParaRPr>
          </a:p>
          <a:p>
            <a:pPr>
              <a:spcAft>
                <a:spcPts val="400"/>
              </a:spcAft>
            </a:pPr>
            <a:r>
              <a:rPr sz="1200">
                <a:solidFill>
                  <a:srgbClr val="333333"/>
                </a:solidFill>
              </a:rPr>
              <a:t>β₂  ≈  0.25</a:t>
            </a:r>
          </a:p>
          <a:p>
            <a:pPr>
              <a:spcAft>
                <a:spcPts val="400"/>
              </a:spcAft>
            </a:pPr>
            <a:r>
              <a:rPr sz="1200">
                <a:solidFill>
                  <a:srgbClr val="333333"/>
                </a:solidFill>
              </a:rPr>
              <a:t>  Hub-connected edges are
  250× more likely to be real
  than non-hub edges</a:t>
            </a:r>
          </a:p>
          <a:p>
            <a:pPr>
              <a:spcAft>
                <a:spcPts val="400"/>
              </a:spcAft>
            </a:pPr>
            <a:r>
              <a:rPr sz="1200">
                <a:solidFill>
                  <a:srgbClr val="333333"/>
                </a:solidFill>
              </a:rPr>
              <a:t>  (β₁ = 0.001)</a:t>
            </a:r>
          </a:p>
          <a:p>
            <a:pPr>
              <a:spcAft>
                <a:spcPts val="400"/>
              </a:spcAft>
            </a:pPr>
            <a:endParaRPr sz="1200">
              <a:solidFill>
                <a:srgbClr val="333333"/>
              </a:solidFill>
            </a:endParaRPr>
          </a:p>
          <a:p>
            <a:pPr>
              <a:spcAft>
                <a:spcPts val="400"/>
              </a:spcAft>
            </a:pPr>
            <a:r>
              <a:rPr sz="1200">
                <a:solidFill>
                  <a:srgbClr val="333333"/>
                </a:solidFill>
              </a:rPr>
              <a:t>Bottom panels show smooth
posterior distributions —
well-behaved estimates</a:t>
            </a:r>
          </a:p>
          <a:p>
            <a:pPr>
              <a:spcAft>
                <a:spcPts val="400"/>
              </a:spcAft>
            </a:pPr>
            <a:endParaRPr sz="1200">
              <a:solidFill>
                <a:srgbClr val="333333"/>
              </a:solidFill>
            </a:endParaRPr>
          </a:p>
          <a:p>
            <a:pPr>
              <a:spcAft>
                <a:spcPts val="400"/>
              </a:spcAft>
            </a:pPr>
            <a:r>
              <a:rPr sz="1200">
                <a:solidFill>
                  <a:srgbClr val="333333"/>
                </a:solidFill>
              </a:rPr>
              <a:t>Conclusion: results are
statistically reliable</a:t>
            </a:r>
          </a:p>
        </p:txBody>
      </p:sp>
      <p:pic>
        <p:nvPicPr>
          <p:cNvPr id="14" name="Picture 13">
            <a:extLst>
              <a:ext uri="{FF2B5EF4-FFF2-40B4-BE49-F238E27FC236}">
                <a16:creationId xmlns:a16="http://schemas.microsoft.com/office/drawing/2014/main" id="{615D7BED-CCE2-C9E9-AD7F-F13FB90B48E4}"/>
              </a:ext>
            </a:extLst>
          </p:cNvPr>
          <p:cNvPicPr>
            <a:picLocks noChangeAspect="1"/>
          </p:cNvPicPr>
          <p:nvPr/>
        </p:nvPicPr>
        <p:blipFill>
          <a:blip r:embed="rId2"/>
          <a:stretch>
            <a:fillRect/>
          </a:stretch>
        </p:blipFill>
        <p:spPr>
          <a:xfrm>
            <a:off x="228600" y="1805956"/>
            <a:ext cx="7141638" cy="38313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461665"/>
          </a:xfrm>
          <a:prstGeom prst="rect">
            <a:avLst/>
          </a:prstGeom>
          <a:noFill/>
        </p:spPr>
        <p:txBody>
          <a:bodyPr wrap="square">
            <a:spAutoFit/>
          </a:bodyPr>
          <a:lstStyle/>
          <a:p>
            <a:pPr algn="l"/>
            <a:r>
              <a:rPr sz="2400" b="1" dirty="0" err="1">
                <a:solidFill>
                  <a:srgbClr val="FFFFFF"/>
                </a:solidFill>
              </a:rPr>
              <a:t>bHUB</a:t>
            </a:r>
            <a:r>
              <a:rPr sz="2400" b="1" dirty="0">
                <a:solidFill>
                  <a:srgbClr val="FFFFFF"/>
                </a:solidFill>
              </a:rPr>
              <a:t>: Network Structure Changes Dramatically with Disease Stage</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Edge PPI heatmap — each cell is the probability that two genes are connected</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28600" y="1051560"/>
            <a:ext cx="8229600" cy="5029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686800" y="1051560"/>
            <a:ext cx="3291840" cy="50292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23960" y="1143000"/>
            <a:ext cx="3017520" cy="320040"/>
          </a:xfrm>
          <a:prstGeom prst="rect">
            <a:avLst/>
          </a:prstGeom>
          <a:noFill/>
        </p:spPr>
        <p:txBody>
          <a:bodyPr wrap="square">
            <a:spAutoFit/>
          </a:bodyPr>
          <a:lstStyle/>
          <a:p>
            <a:pPr algn="l"/>
            <a:r>
              <a:rPr sz="1400" b="1">
                <a:solidFill>
                  <a:srgbClr val="1A3A5C"/>
                </a:solidFill>
              </a:rPr>
              <a:t>How to read this</a:t>
            </a:r>
          </a:p>
        </p:txBody>
      </p:sp>
      <p:sp>
        <p:nvSpPr>
          <p:cNvPr id="12" name="TextBox 11"/>
          <p:cNvSpPr txBox="1"/>
          <p:nvPr/>
        </p:nvSpPr>
        <p:spPr>
          <a:xfrm>
            <a:off x="8823960" y="1536192"/>
            <a:ext cx="3017520" cy="4480560"/>
          </a:xfrm>
          <a:prstGeom prst="rect">
            <a:avLst/>
          </a:prstGeom>
          <a:noFill/>
        </p:spPr>
        <p:txBody>
          <a:bodyPr wrap="square">
            <a:spAutoFit/>
          </a:bodyPr>
          <a:lstStyle/>
          <a:p>
            <a:pPr>
              <a:spcAft>
                <a:spcPts val="400"/>
              </a:spcAft>
            </a:pPr>
            <a:r>
              <a:rPr sz="1200">
                <a:solidFill>
                  <a:srgbClr val="333333"/>
                </a:solidFill>
              </a:rPr>
              <a:t>Dark red cell = two genes
are almost certainly
co-expressed together</a:t>
            </a:r>
          </a:p>
          <a:p>
            <a:pPr>
              <a:spcAft>
                <a:spcPts val="400"/>
              </a:spcAft>
            </a:pPr>
            <a:endParaRPr sz="1200">
              <a:solidFill>
                <a:srgbClr val="333333"/>
              </a:solidFill>
            </a:endParaRPr>
          </a:p>
          <a:p>
            <a:pPr>
              <a:spcAft>
                <a:spcPts val="400"/>
              </a:spcAft>
            </a:pPr>
            <a:r>
              <a:rPr sz="1200">
                <a:solidFill>
                  <a:srgbClr val="333333"/>
                </a:solidFill>
              </a:rPr>
              <a:t>Yellow = no meaningful
connection</a:t>
            </a:r>
          </a:p>
          <a:p>
            <a:pPr>
              <a:spcAft>
                <a:spcPts val="400"/>
              </a:spcAft>
            </a:pPr>
            <a:endParaRPr sz="1200">
              <a:solidFill>
                <a:srgbClr val="333333"/>
              </a:solidFill>
            </a:endParaRPr>
          </a:p>
          <a:p>
            <a:pPr>
              <a:spcAft>
                <a:spcPts val="400"/>
              </a:spcAft>
            </a:pPr>
            <a:r>
              <a:rPr sz="1200">
                <a:solidFill>
                  <a:srgbClr val="333333"/>
                </a:solidFill>
              </a:rPr>
              <a:t>A hub gene appears as a
bright stripe (row + column)</a:t>
            </a:r>
          </a:p>
          <a:p>
            <a:pPr>
              <a:spcAft>
                <a:spcPts val="400"/>
              </a:spcAft>
            </a:pPr>
            <a:endParaRPr sz="1200">
              <a:solidFill>
                <a:srgbClr val="333333"/>
              </a:solidFill>
            </a:endParaRPr>
          </a:p>
          <a:p>
            <a:pPr>
              <a:spcAft>
                <a:spcPts val="400"/>
              </a:spcAft>
            </a:pPr>
            <a:r>
              <a:rPr sz="1200">
                <a:solidFill>
                  <a:srgbClr val="333333"/>
                </a:solidFill>
              </a:rPr>
              <a:t>MGS1:  30 edges</a:t>
            </a:r>
          </a:p>
          <a:p>
            <a:pPr>
              <a:spcAft>
                <a:spcPts val="400"/>
              </a:spcAft>
            </a:pPr>
            <a:r>
              <a:rPr sz="1200">
                <a:solidFill>
                  <a:srgbClr val="333333"/>
                </a:solidFill>
              </a:rPr>
              <a:t>  Sparse — few connections</a:t>
            </a:r>
          </a:p>
          <a:p>
            <a:pPr>
              <a:spcAft>
                <a:spcPts val="400"/>
              </a:spcAft>
            </a:pPr>
            <a:endParaRPr sz="1200">
              <a:solidFill>
                <a:srgbClr val="333333"/>
              </a:solidFill>
            </a:endParaRPr>
          </a:p>
          <a:p>
            <a:pPr>
              <a:spcAft>
                <a:spcPts val="400"/>
              </a:spcAft>
            </a:pPr>
            <a:r>
              <a:rPr sz="1200">
                <a:solidFill>
                  <a:srgbClr val="333333"/>
                </a:solidFill>
              </a:rPr>
              <a:t>MGS4:  137 edges</a:t>
            </a:r>
          </a:p>
          <a:p>
            <a:pPr>
              <a:spcAft>
                <a:spcPts val="400"/>
              </a:spcAft>
            </a:pPr>
            <a:r>
              <a:rPr sz="1200">
                <a:solidFill>
                  <a:srgbClr val="333333"/>
                </a:solidFill>
              </a:rPr>
              <a:t>  Dense — 4.6× more
  connections</a:t>
            </a:r>
          </a:p>
          <a:p>
            <a:pPr>
              <a:spcAft>
                <a:spcPts val="400"/>
              </a:spcAft>
            </a:pPr>
            <a:endParaRPr sz="1200">
              <a:solidFill>
                <a:srgbClr val="333333"/>
              </a:solidFill>
            </a:endParaRPr>
          </a:p>
          <a:p>
            <a:pPr>
              <a:spcAft>
                <a:spcPts val="400"/>
              </a:spcAft>
            </a:pPr>
            <a:r>
              <a:rPr sz="1200">
                <a:solidFill>
                  <a:srgbClr val="333333"/>
                </a:solidFill>
              </a:rPr>
              <a:t>The network does not
just grow — it reorganises
around new hub genes</a:t>
            </a:r>
          </a:p>
        </p:txBody>
      </p:sp>
      <p:pic>
        <p:nvPicPr>
          <p:cNvPr id="14" name="Picture 13">
            <a:extLst>
              <a:ext uri="{FF2B5EF4-FFF2-40B4-BE49-F238E27FC236}">
                <a16:creationId xmlns:a16="http://schemas.microsoft.com/office/drawing/2014/main" id="{9E9BE8F2-8905-6A8A-C9AC-3B68074E4CFF}"/>
              </a:ext>
            </a:extLst>
          </p:cNvPr>
          <p:cNvPicPr>
            <a:picLocks noChangeAspect="1"/>
          </p:cNvPicPr>
          <p:nvPr/>
        </p:nvPicPr>
        <p:blipFill>
          <a:blip r:embed="rId2"/>
          <a:stretch>
            <a:fillRect/>
          </a:stretch>
        </p:blipFill>
        <p:spPr>
          <a:xfrm>
            <a:off x="274320" y="1792224"/>
            <a:ext cx="8042992" cy="34930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bHUB: Hub Gene Results</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Which genes are the central connectors in each stage?</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28600" y="1051560"/>
            <a:ext cx="694944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325880"/>
            <a:ext cx="6766559" cy="5212079"/>
          </a:xfrm>
          <a:prstGeom prst="rect">
            <a:avLst/>
          </a:prstGeom>
          <a:noFill/>
        </p:spPr>
        <p:txBody>
          <a:bodyPr wrap="square">
            <a:spAutoFit/>
          </a:bodyPr>
          <a:lstStyle/>
          <a:p>
            <a:pPr algn="ctr"/>
            <a:r>
              <a:rPr sz="1100" b="0" dirty="0">
                <a:solidFill>
                  <a:srgbClr val="888888"/>
                </a:solidFill>
              </a:rPr>
              <a:t>[Image not found:
bhub_true_results.png]</a:t>
            </a:r>
          </a:p>
        </p:txBody>
      </p:sp>
      <p:sp>
        <p:nvSpPr>
          <p:cNvPr id="9" name="Rectangle 8"/>
          <p:cNvSpPr/>
          <p:nvPr/>
        </p:nvSpPr>
        <p:spPr>
          <a:xfrm>
            <a:off x="7406640" y="1051560"/>
            <a:ext cx="4572000" cy="55778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43800" y="1143000"/>
            <a:ext cx="4297680" cy="320040"/>
          </a:xfrm>
          <a:prstGeom prst="rect">
            <a:avLst/>
          </a:prstGeom>
          <a:noFill/>
        </p:spPr>
        <p:txBody>
          <a:bodyPr wrap="square">
            <a:spAutoFit/>
          </a:bodyPr>
          <a:lstStyle/>
          <a:p>
            <a:pPr algn="l"/>
            <a:r>
              <a:rPr sz="1400" b="1">
                <a:solidFill>
                  <a:srgbClr val="1A3A5C"/>
                </a:solidFill>
              </a:rPr>
              <a:t>Summary</a:t>
            </a:r>
          </a:p>
        </p:txBody>
      </p:sp>
      <p:sp>
        <p:nvSpPr>
          <p:cNvPr id="12" name="Rectangle 11"/>
          <p:cNvSpPr/>
          <p:nvPr/>
        </p:nvSpPr>
        <p:spPr>
          <a:xfrm>
            <a:off x="7406640" y="1536192"/>
            <a:ext cx="4572000" cy="1051560"/>
          </a:xfrm>
          <a:prstGeom prst="rect">
            <a:avLst/>
          </a:prstGeom>
          <a:solidFill>
            <a:srgbClr val="FC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1572768"/>
            <a:ext cx="4297680" cy="320040"/>
          </a:xfrm>
          <a:prstGeom prst="rect">
            <a:avLst/>
          </a:prstGeom>
          <a:noFill/>
        </p:spPr>
        <p:txBody>
          <a:bodyPr wrap="square">
            <a:spAutoFit/>
          </a:bodyPr>
          <a:lstStyle/>
          <a:p>
            <a:pPr algn="l"/>
            <a:r>
              <a:rPr sz="1200" b="1">
                <a:solidFill>
                  <a:srgbClr val="D62728"/>
                </a:solidFill>
              </a:rPr>
              <a:t>Co-hubs  (hub in BOTH stages)  PPI = 1.0</a:t>
            </a:r>
          </a:p>
        </p:txBody>
      </p:sp>
      <p:sp>
        <p:nvSpPr>
          <p:cNvPr id="14" name="TextBox 13"/>
          <p:cNvSpPr txBox="1"/>
          <p:nvPr/>
        </p:nvSpPr>
        <p:spPr>
          <a:xfrm>
            <a:off x="7543800" y="1874519"/>
            <a:ext cx="4297680" cy="658368"/>
          </a:xfrm>
          <a:prstGeom prst="rect">
            <a:avLst/>
          </a:prstGeom>
          <a:noFill/>
        </p:spPr>
        <p:txBody>
          <a:bodyPr wrap="square">
            <a:spAutoFit/>
          </a:bodyPr>
          <a:lstStyle/>
          <a:p>
            <a:pPr>
              <a:spcAft>
                <a:spcPts val="400"/>
              </a:spcAft>
            </a:pPr>
            <a:r>
              <a:rPr sz="1100">
                <a:solidFill>
                  <a:srgbClr val="333333"/>
                </a:solidFill>
              </a:rPr>
              <a:t>HLA-DRA   MHC class II immune receptor</a:t>
            </a:r>
          </a:p>
          <a:p>
            <a:pPr>
              <a:spcAft>
                <a:spcPts val="400"/>
              </a:spcAft>
            </a:pPr>
            <a:r>
              <a:rPr sz="1100">
                <a:solidFill>
                  <a:srgbClr val="333333"/>
                </a:solidFill>
              </a:rPr>
              <a:t>C1R          Complement C1r protease</a:t>
            </a:r>
          </a:p>
          <a:p>
            <a:pPr>
              <a:spcAft>
                <a:spcPts val="400"/>
              </a:spcAft>
            </a:pPr>
            <a:r>
              <a:rPr sz="1100">
                <a:solidFill>
                  <a:srgbClr val="333333"/>
                </a:solidFill>
              </a:rPr>
              <a:t>SLC9A9      Na⁺/H⁺ exchanger (endosomal pH)</a:t>
            </a:r>
          </a:p>
        </p:txBody>
      </p:sp>
      <p:sp>
        <p:nvSpPr>
          <p:cNvPr id="15" name="Rectangle 14"/>
          <p:cNvSpPr/>
          <p:nvPr/>
        </p:nvSpPr>
        <p:spPr>
          <a:xfrm>
            <a:off x="7406640" y="2633472"/>
            <a:ext cx="4572000" cy="2331720"/>
          </a:xfrm>
          <a:prstGeom prst="rect">
            <a:avLst/>
          </a:prstGeom>
          <a:solidFill>
            <a:srgbClr val="FF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670048"/>
            <a:ext cx="4297680" cy="320040"/>
          </a:xfrm>
          <a:prstGeom prst="rect">
            <a:avLst/>
          </a:prstGeom>
          <a:noFill/>
        </p:spPr>
        <p:txBody>
          <a:bodyPr wrap="square">
            <a:spAutoFit/>
          </a:bodyPr>
          <a:lstStyle/>
          <a:p>
            <a:pPr algn="l"/>
            <a:r>
              <a:rPr sz="1200" b="1">
                <a:solidFill>
                  <a:srgbClr val="D65F00"/>
                </a:solidFill>
              </a:rPr>
              <a:t>MGS4-only hubs  (appear only in advanced AMD)</a:t>
            </a:r>
          </a:p>
        </p:txBody>
      </p:sp>
      <p:sp>
        <p:nvSpPr>
          <p:cNvPr id="17" name="TextBox 16"/>
          <p:cNvSpPr txBox="1"/>
          <p:nvPr/>
        </p:nvSpPr>
        <p:spPr>
          <a:xfrm>
            <a:off x="7543800" y="2999232"/>
            <a:ext cx="4297680" cy="1920240"/>
          </a:xfrm>
          <a:prstGeom prst="rect">
            <a:avLst/>
          </a:prstGeom>
          <a:noFill/>
        </p:spPr>
        <p:txBody>
          <a:bodyPr wrap="square">
            <a:spAutoFit/>
          </a:bodyPr>
          <a:lstStyle/>
          <a:p>
            <a:pPr>
              <a:spcAft>
                <a:spcPts val="400"/>
              </a:spcAft>
            </a:pPr>
            <a:r>
              <a:rPr sz="1100">
                <a:solidFill>
                  <a:srgbClr val="333333"/>
                </a:solidFill>
              </a:rPr>
              <a:t>C1S, C2, C3, CFB  — complement cascade</a:t>
            </a:r>
          </a:p>
          <a:p>
            <a:pPr>
              <a:spcAft>
                <a:spcPts val="400"/>
              </a:spcAft>
            </a:pPr>
            <a:r>
              <a:rPr sz="1100">
                <a:solidFill>
                  <a:srgbClr val="333333"/>
                </a:solidFill>
              </a:rPr>
              <a:t>SERPING1              — complement inhibitor</a:t>
            </a:r>
          </a:p>
          <a:p>
            <a:pPr>
              <a:spcAft>
                <a:spcPts val="400"/>
              </a:spcAft>
            </a:pPr>
            <a:r>
              <a:rPr sz="1100">
                <a:solidFill>
                  <a:srgbClr val="333333"/>
                </a:solidFill>
              </a:rPr>
              <a:t>PSMB8                  — immunoproteasome</a:t>
            </a:r>
          </a:p>
          <a:p>
            <a:pPr>
              <a:spcAft>
                <a:spcPts val="400"/>
              </a:spcAft>
            </a:pPr>
            <a:r>
              <a:rPr sz="1100">
                <a:solidFill>
                  <a:srgbClr val="333333"/>
                </a:solidFill>
              </a:rPr>
              <a:t>TMSB4X               — tissue repair</a:t>
            </a:r>
          </a:p>
          <a:p>
            <a:pPr>
              <a:spcAft>
                <a:spcPts val="400"/>
              </a:spcAft>
            </a:pPr>
            <a:r>
              <a:rPr sz="1100">
                <a:solidFill>
                  <a:srgbClr val="333333"/>
                </a:solidFill>
              </a:rPr>
              <a:t>NNMT                    — metabolic reprogramming</a:t>
            </a:r>
          </a:p>
          <a:p>
            <a:pPr>
              <a:spcAft>
                <a:spcPts val="400"/>
              </a:spcAft>
            </a:pPr>
            <a:r>
              <a:rPr sz="1100">
                <a:solidFill>
                  <a:srgbClr val="333333"/>
                </a:solidFill>
              </a:rPr>
              <a:t>F5                           — coagulation factor</a:t>
            </a:r>
          </a:p>
        </p:txBody>
      </p:sp>
      <p:sp>
        <p:nvSpPr>
          <p:cNvPr id="18" name="Rectangle 17"/>
          <p:cNvSpPr/>
          <p:nvPr/>
        </p:nvSpPr>
        <p:spPr>
          <a:xfrm>
            <a:off x="7406640" y="5010912"/>
            <a:ext cx="4572000" cy="59436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43800" y="5047488"/>
            <a:ext cx="4297680" cy="256032"/>
          </a:xfrm>
          <a:prstGeom prst="rect">
            <a:avLst/>
          </a:prstGeom>
          <a:noFill/>
        </p:spPr>
        <p:txBody>
          <a:bodyPr wrap="square">
            <a:spAutoFit/>
          </a:bodyPr>
          <a:lstStyle/>
          <a:p>
            <a:pPr algn="l"/>
            <a:r>
              <a:rPr sz="1200" b="1">
                <a:solidFill>
                  <a:srgbClr val="1F77B4"/>
                </a:solidFill>
              </a:rPr>
              <a:t>0 MGS1-only hubs</a:t>
            </a:r>
          </a:p>
        </p:txBody>
      </p:sp>
      <p:sp>
        <p:nvSpPr>
          <p:cNvPr id="20" name="TextBox 19"/>
          <p:cNvSpPr txBox="1"/>
          <p:nvPr/>
        </p:nvSpPr>
        <p:spPr>
          <a:xfrm>
            <a:off x="7543800" y="5285232"/>
            <a:ext cx="4297680" cy="256032"/>
          </a:xfrm>
          <a:prstGeom prst="rect">
            <a:avLst/>
          </a:prstGeom>
          <a:noFill/>
        </p:spPr>
        <p:txBody>
          <a:bodyPr wrap="square">
            <a:spAutoFit/>
          </a:bodyPr>
          <a:lstStyle/>
          <a:p>
            <a:pPr algn="l"/>
            <a:r>
              <a:rPr sz="1100" b="0">
                <a:solidFill>
                  <a:srgbClr val="333333"/>
                </a:solidFill>
              </a:rPr>
              <a:t>No gene is a hub exclusively in normal/early tissue</a:t>
            </a:r>
          </a:p>
        </p:txBody>
      </p:sp>
      <p:sp>
        <p:nvSpPr>
          <p:cNvPr id="21" name="TextBox 20"/>
          <p:cNvSpPr txBox="1"/>
          <p:nvPr/>
        </p:nvSpPr>
        <p:spPr>
          <a:xfrm>
            <a:off x="7543800" y="5687568"/>
            <a:ext cx="4297680" cy="347472"/>
          </a:xfrm>
          <a:prstGeom prst="rect">
            <a:avLst/>
          </a:prstGeom>
          <a:noFill/>
        </p:spPr>
        <p:txBody>
          <a:bodyPr wrap="square">
            <a:spAutoFit/>
          </a:bodyPr>
          <a:lstStyle/>
          <a:p>
            <a:pPr algn="l"/>
            <a:r>
              <a:rPr sz="1100" b="0">
                <a:solidFill>
                  <a:srgbClr val="888888"/>
                </a:solidFill>
              </a:rPr>
              <a:t>81% of genes: Non-hub in both stages</a:t>
            </a:r>
          </a:p>
        </p:txBody>
      </p:sp>
      <p:pic>
        <p:nvPicPr>
          <p:cNvPr id="23" name="Picture 22">
            <a:extLst>
              <a:ext uri="{FF2B5EF4-FFF2-40B4-BE49-F238E27FC236}">
                <a16:creationId xmlns:a16="http://schemas.microsoft.com/office/drawing/2014/main" id="{AF929D0E-BB5E-D2E9-E2CB-2E95E3DDB04B}"/>
              </a:ext>
            </a:extLst>
          </p:cNvPr>
          <p:cNvPicPr>
            <a:picLocks noChangeAspect="1"/>
          </p:cNvPicPr>
          <p:nvPr/>
        </p:nvPicPr>
        <p:blipFill>
          <a:blip r:embed="rId2"/>
          <a:stretch>
            <a:fillRect/>
          </a:stretch>
        </p:blipFill>
        <p:spPr>
          <a:xfrm>
            <a:off x="1014983" y="1036628"/>
            <a:ext cx="5332131" cy="55561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Biological Interpretation</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What do all three analyses tell us about AMD progression?</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Rectangle 6"/>
          <p:cNvSpPr/>
          <p:nvPr/>
        </p:nvSpPr>
        <p:spPr>
          <a:xfrm>
            <a:off x="274320" y="1143000"/>
            <a:ext cx="11612880" cy="1691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43000"/>
            <a:ext cx="164592" cy="169164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1216152"/>
            <a:ext cx="2011680" cy="685800"/>
          </a:xfrm>
          <a:prstGeom prst="rect">
            <a:avLst/>
          </a:prstGeom>
          <a:noFill/>
        </p:spPr>
        <p:txBody>
          <a:bodyPr wrap="square">
            <a:spAutoFit/>
          </a:bodyPr>
          <a:lstStyle/>
          <a:p>
            <a:pPr algn="l"/>
            <a:r>
              <a:rPr sz="1300" b="1">
                <a:solidFill>
                  <a:srgbClr val="1F77B4"/>
                </a:solidFill>
              </a:rPr>
              <a:t>Both Stages
(Co-hubs)</a:t>
            </a:r>
          </a:p>
        </p:txBody>
      </p:sp>
      <p:sp>
        <p:nvSpPr>
          <p:cNvPr id="10" name="TextBox 9"/>
          <p:cNvSpPr txBox="1"/>
          <p:nvPr/>
        </p:nvSpPr>
        <p:spPr>
          <a:xfrm>
            <a:off x="548640" y="1920240"/>
            <a:ext cx="2011680" cy="685800"/>
          </a:xfrm>
          <a:prstGeom prst="rect">
            <a:avLst/>
          </a:prstGeom>
          <a:noFill/>
        </p:spPr>
        <p:txBody>
          <a:bodyPr wrap="square">
            <a:spAutoFit/>
          </a:bodyPr>
          <a:lstStyle/>
          <a:p>
            <a:pPr algn="l"/>
            <a:r>
              <a:rPr sz="1100" b="0">
                <a:solidFill>
                  <a:srgbClr val="333333"/>
                </a:solidFill>
              </a:rPr>
              <a:t>HLA-DRA · C1R · SLC9A9</a:t>
            </a:r>
          </a:p>
        </p:txBody>
      </p:sp>
      <p:sp>
        <p:nvSpPr>
          <p:cNvPr id="11" name="Rectangle 10"/>
          <p:cNvSpPr/>
          <p:nvPr/>
        </p:nvSpPr>
        <p:spPr>
          <a:xfrm>
            <a:off x="274320" y="1197864"/>
            <a:ext cx="11612880" cy="274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0" y="1252728"/>
            <a:ext cx="8961120" cy="1463040"/>
          </a:xfrm>
          <a:prstGeom prst="rect">
            <a:avLst/>
          </a:prstGeom>
          <a:noFill/>
        </p:spPr>
        <p:txBody>
          <a:bodyPr wrap="square">
            <a:spAutoFit/>
          </a:bodyPr>
          <a:lstStyle/>
          <a:p>
            <a:pPr algn="l"/>
            <a:r>
              <a:rPr sz="1300" b="0">
                <a:solidFill>
                  <a:srgbClr val="333333"/>
                </a:solidFill>
              </a:rPr>
              <a:t>These three genes are the stable regulatory core of the AMD network.
HLA-DRA (immune antigen presentation) and C1R (complement C1r) are
consistently central regardless of disease stage, suggesting immune
priming exists even before advanced AMD develops. SLC9A9 points to
chronic endosomal pH dysregulation in the retinal pigment epithelium.</a:t>
            </a:r>
          </a:p>
        </p:txBody>
      </p:sp>
      <p:sp>
        <p:nvSpPr>
          <p:cNvPr id="13" name="Rectangle 12"/>
          <p:cNvSpPr/>
          <p:nvPr/>
        </p:nvSpPr>
        <p:spPr>
          <a:xfrm>
            <a:off x="274320" y="2953512"/>
            <a:ext cx="11612880" cy="1691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 y="2953512"/>
            <a:ext cx="164592" cy="1691640"/>
          </a:xfrm>
          <a:prstGeom prst="rect">
            <a:avLst/>
          </a:prstGeom>
          <a:solidFill>
            <a:srgbClr val="D65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3026664"/>
            <a:ext cx="2011680" cy="685800"/>
          </a:xfrm>
          <a:prstGeom prst="rect">
            <a:avLst/>
          </a:prstGeom>
          <a:noFill/>
        </p:spPr>
        <p:txBody>
          <a:bodyPr wrap="square">
            <a:spAutoFit/>
          </a:bodyPr>
          <a:lstStyle/>
          <a:p>
            <a:pPr algn="l"/>
            <a:r>
              <a:rPr sz="1300" b="1">
                <a:solidFill>
                  <a:srgbClr val="D65F00"/>
                </a:solidFill>
              </a:rPr>
              <a:t>Advanced AMD Only
(MGS4 hubs)</a:t>
            </a:r>
          </a:p>
        </p:txBody>
      </p:sp>
      <p:sp>
        <p:nvSpPr>
          <p:cNvPr id="16" name="TextBox 15"/>
          <p:cNvSpPr txBox="1"/>
          <p:nvPr/>
        </p:nvSpPr>
        <p:spPr>
          <a:xfrm>
            <a:off x="548640" y="3730752"/>
            <a:ext cx="2011680" cy="685800"/>
          </a:xfrm>
          <a:prstGeom prst="rect">
            <a:avLst/>
          </a:prstGeom>
          <a:noFill/>
        </p:spPr>
        <p:txBody>
          <a:bodyPr wrap="square">
            <a:spAutoFit/>
          </a:bodyPr>
          <a:lstStyle/>
          <a:p>
            <a:pPr algn="l"/>
            <a:r>
              <a:rPr sz="1100" b="0">
                <a:solidFill>
                  <a:srgbClr val="333333"/>
                </a:solidFill>
              </a:rPr>
              <a:t>C1S · C2 · C3 · CFB · SERPING1</a:t>
            </a:r>
          </a:p>
        </p:txBody>
      </p:sp>
      <p:sp>
        <p:nvSpPr>
          <p:cNvPr id="17" name="Rectangle 16"/>
          <p:cNvSpPr/>
          <p:nvPr/>
        </p:nvSpPr>
        <p:spPr>
          <a:xfrm>
            <a:off x="274320" y="3008376"/>
            <a:ext cx="11612880" cy="274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0" y="3063240"/>
            <a:ext cx="8961120" cy="1463040"/>
          </a:xfrm>
          <a:prstGeom prst="rect">
            <a:avLst/>
          </a:prstGeom>
          <a:noFill/>
        </p:spPr>
        <p:txBody>
          <a:bodyPr wrap="square">
            <a:spAutoFit/>
          </a:bodyPr>
          <a:lstStyle/>
          <a:p>
            <a:pPr algn="l"/>
            <a:r>
              <a:rPr sz="1300" b="0">
                <a:solidFill>
                  <a:srgbClr val="333333"/>
                </a:solidFill>
              </a:rPr>
              <a:t>The entire complement cascade becomes co-hub in MGS4. This is not one
gene malfunctioning — it is the full pathway wiring up as a coordinated
module. SERPING1 (C1-inhibitor) also becomes a hub, likely as a failed
feedback response to out-of-control complement activation.</a:t>
            </a:r>
          </a:p>
        </p:txBody>
      </p:sp>
      <p:sp>
        <p:nvSpPr>
          <p:cNvPr id="19" name="Rectangle 18"/>
          <p:cNvSpPr/>
          <p:nvPr/>
        </p:nvSpPr>
        <p:spPr>
          <a:xfrm>
            <a:off x="274320" y="4764024"/>
            <a:ext cx="11612880" cy="169164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4764024"/>
            <a:ext cx="164592" cy="1691640"/>
          </a:xfrm>
          <a:prstGeom prst="rect">
            <a:avLst/>
          </a:prstGeom>
          <a:solidFill>
            <a:srgbClr val="D627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4837176"/>
            <a:ext cx="2011680" cy="685800"/>
          </a:xfrm>
          <a:prstGeom prst="rect">
            <a:avLst/>
          </a:prstGeom>
          <a:noFill/>
        </p:spPr>
        <p:txBody>
          <a:bodyPr wrap="square">
            <a:spAutoFit/>
          </a:bodyPr>
          <a:lstStyle/>
          <a:p>
            <a:pPr algn="l"/>
            <a:r>
              <a:rPr sz="1300" b="1">
                <a:solidFill>
                  <a:srgbClr val="D62728"/>
                </a:solidFill>
              </a:rPr>
              <a:t>Disease Transition
(Network rewiring)</a:t>
            </a:r>
          </a:p>
        </p:txBody>
      </p:sp>
      <p:sp>
        <p:nvSpPr>
          <p:cNvPr id="22" name="TextBox 21"/>
          <p:cNvSpPr txBox="1"/>
          <p:nvPr/>
        </p:nvSpPr>
        <p:spPr>
          <a:xfrm>
            <a:off x="548640" y="5541264"/>
            <a:ext cx="2011680" cy="685800"/>
          </a:xfrm>
          <a:prstGeom prst="rect">
            <a:avLst/>
          </a:prstGeom>
          <a:noFill/>
        </p:spPr>
        <p:txBody>
          <a:bodyPr wrap="square">
            <a:spAutoFit/>
          </a:bodyPr>
          <a:lstStyle/>
          <a:p>
            <a:pPr algn="l"/>
            <a:r>
              <a:rPr sz="1100" b="0">
                <a:solidFill>
                  <a:srgbClr val="333333"/>
                </a:solidFill>
              </a:rPr>
              <a:t>30 → 137 edges  (+357%)</a:t>
            </a:r>
          </a:p>
        </p:txBody>
      </p:sp>
      <p:sp>
        <p:nvSpPr>
          <p:cNvPr id="23" name="Rectangle 22"/>
          <p:cNvSpPr/>
          <p:nvPr/>
        </p:nvSpPr>
        <p:spPr>
          <a:xfrm>
            <a:off x="274320" y="4818888"/>
            <a:ext cx="11612880" cy="27432"/>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43200" y="4873752"/>
            <a:ext cx="8961120" cy="1463040"/>
          </a:xfrm>
          <a:prstGeom prst="rect">
            <a:avLst/>
          </a:prstGeom>
          <a:noFill/>
        </p:spPr>
        <p:txBody>
          <a:bodyPr wrap="square">
            <a:spAutoFit/>
          </a:bodyPr>
          <a:lstStyle/>
          <a:p>
            <a:pPr algn="l"/>
            <a:r>
              <a:rPr sz="1300" b="0">
                <a:solidFill>
                  <a:srgbClr val="333333"/>
                </a:solidFill>
              </a:rPr>
              <a:t>The network more than quadruples in connectivity from MGS1 to MGS4.
KFDA capturing this non-linearity (AUC gain vs LDA) is consistent:
AMD progression is a system-level reorganisation, not a simple shift
in a few gene expression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45720"/>
            <a:ext cx="9144000" cy="594360"/>
          </a:xfrm>
          <a:prstGeom prst="rect">
            <a:avLst/>
          </a:prstGeom>
          <a:noFill/>
        </p:spPr>
        <p:txBody>
          <a:bodyPr wrap="square">
            <a:spAutoFit/>
          </a:bodyPr>
          <a:lstStyle/>
          <a:p>
            <a:pPr algn="l"/>
            <a:r>
              <a:rPr sz="2800" b="1">
                <a:solidFill>
                  <a:srgbClr val="FFFFFF"/>
                </a:solidFill>
              </a:rPr>
              <a:t>Cross-Method Convergence — Strongest Evidence</a:t>
            </a:r>
          </a:p>
        </p:txBody>
      </p:sp>
      <p:sp>
        <p:nvSpPr>
          <p:cNvPr id="4" name="TextBox 3"/>
          <p:cNvSpPr txBox="1"/>
          <p:nvPr/>
        </p:nvSpPr>
        <p:spPr>
          <a:xfrm>
            <a:off x="274320" y="621792"/>
            <a:ext cx="10972800" cy="320040"/>
          </a:xfrm>
          <a:prstGeom prst="rect">
            <a:avLst/>
          </a:prstGeom>
          <a:noFill/>
        </p:spPr>
        <p:txBody>
          <a:bodyPr wrap="square">
            <a:spAutoFit/>
          </a:bodyPr>
          <a:lstStyle/>
          <a:p>
            <a:pPr algn="l"/>
            <a:r>
              <a:rPr sz="1400" b="0">
                <a:solidFill>
                  <a:srgbClr val="CCDDEE"/>
                </a:solidFill>
              </a:rPr>
              <a:t>Genes that appear important across ALL three independent analyses</a:t>
            </a:r>
          </a:p>
        </p:txBody>
      </p:sp>
      <p:sp>
        <p:nvSpPr>
          <p:cNvPr id="5" name="Rectangle 4"/>
          <p:cNvSpPr/>
          <p:nvPr/>
        </p:nvSpPr>
        <p:spPr>
          <a:xfrm>
            <a:off x="0" y="6583680"/>
            <a:ext cx="12188952" cy="27432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92824"/>
            <a:ext cx="10972800" cy="256032"/>
          </a:xfrm>
          <a:prstGeom prst="rect">
            <a:avLst/>
          </a:prstGeom>
          <a:noFill/>
        </p:spPr>
        <p:txBody>
          <a:bodyPr wrap="square">
            <a:spAutoFit/>
          </a:bodyPr>
          <a:lstStyle/>
          <a:p>
            <a:pPr algn="l"/>
            <a:r>
              <a:rPr sz="1000" b="0">
                <a:solidFill>
                  <a:srgbClr val="AABBCC"/>
                </a:solidFill>
              </a:rPr>
              <a:t>AMD RNA-seq Analysis  |  Advisor Update</a:t>
            </a:r>
          </a:p>
        </p:txBody>
      </p:sp>
      <p:sp>
        <p:nvSpPr>
          <p:cNvPr id="7" name="TextBox 6"/>
          <p:cNvSpPr txBox="1"/>
          <p:nvPr/>
        </p:nvSpPr>
        <p:spPr>
          <a:xfrm>
            <a:off x="365760" y="1143000"/>
            <a:ext cx="11430000" cy="685800"/>
          </a:xfrm>
          <a:prstGeom prst="rect">
            <a:avLst/>
          </a:prstGeom>
          <a:noFill/>
        </p:spPr>
        <p:txBody>
          <a:bodyPr wrap="square">
            <a:spAutoFit/>
          </a:bodyPr>
          <a:lstStyle/>
          <a:p>
            <a:pPr algn="l"/>
            <a:r>
              <a:rPr sz="1400" b="0">
                <a:solidFill>
                  <a:srgbClr val="333333"/>
                </a:solidFill>
              </a:rPr>
              <a:t>When a gene is flagged by LDA coefficients, separates classes in KFDA, AND is identified as a hub in bHUB — that is strong, multi-method evidence. These are the highest-priority candidates for follow-up.</a:t>
            </a:r>
          </a:p>
        </p:txBody>
      </p:sp>
      <p:sp>
        <p:nvSpPr>
          <p:cNvPr id="8" name="Rectangle 7"/>
          <p:cNvSpPr/>
          <p:nvPr/>
        </p:nvSpPr>
        <p:spPr>
          <a:xfrm>
            <a:off x="274320" y="1920240"/>
            <a:ext cx="11612880" cy="41148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947672"/>
            <a:ext cx="1645919" cy="347472"/>
          </a:xfrm>
          <a:prstGeom prst="rect">
            <a:avLst/>
          </a:prstGeom>
          <a:noFill/>
        </p:spPr>
        <p:txBody>
          <a:bodyPr wrap="square">
            <a:spAutoFit/>
          </a:bodyPr>
          <a:lstStyle/>
          <a:p>
            <a:pPr algn="l"/>
            <a:r>
              <a:rPr sz="1200" b="1">
                <a:solidFill>
                  <a:srgbClr val="FFFFFF"/>
                </a:solidFill>
              </a:rPr>
              <a:t>Gene</a:t>
            </a:r>
          </a:p>
        </p:txBody>
      </p:sp>
      <p:sp>
        <p:nvSpPr>
          <p:cNvPr id="10" name="TextBox 9"/>
          <p:cNvSpPr txBox="1"/>
          <p:nvPr/>
        </p:nvSpPr>
        <p:spPr>
          <a:xfrm>
            <a:off x="2057400" y="1947672"/>
            <a:ext cx="2103120" cy="347472"/>
          </a:xfrm>
          <a:prstGeom prst="rect">
            <a:avLst/>
          </a:prstGeom>
          <a:noFill/>
        </p:spPr>
        <p:txBody>
          <a:bodyPr wrap="square">
            <a:spAutoFit/>
          </a:bodyPr>
          <a:lstStyle/>
          <a:p>
            <a:pPr algn="l"/>
            <a:r>
              <a:rPr sz="1200" b="1">
                <a:solidFill>
                  <a:srgbClr val="FFFFFF"/>
                </a:solidFill>
              </a:rPr>
              <a:t>LDA Coefficient</a:t>
            </a:r>
          </a:p>
        </p:txBody>
      </p:sp>
      <p:sp>
        <p:nvSpPr>
          <p:cNvPr id="11" name="TextBox 10"/>
          <p:cNvSpPr txBox="1"/>
          <p:nvPr/>
        </p:nvSpPr>
        <p:spPr>
          <a:xfrm>
            <a:off x="4251959" y="1947672"/>
            <a:ext cx="2103120" cy="347472"/>
          </a:xfrm>
          <a:prstGeom prst="rect">
            <a:avLst/>
          </a:prstGeom>
          <a:noFill/>
        </p:spPr>
        <p:txBody>
          <a:bodyPr wrap="square">
            <a:spAutoFit/>
          </a:bodyPr>
          <a:lstStyle/>
          <a:p>
            <a:pPr algn="l"/>
            <a:r>
              <a:rPr sz="1200" b="1">
                <a:solidFill>
                  <a:srgbClr val="FFFFFF"/>
                </a:solidFill>
              </a:rPr>
              <a:t>KFDA Contribution</a:t>
            </a:r>
          </a:p>
        </p:txBody>
      </p:sp>
      <p:sp>
        <p:nvSpPr>
          <p:cNvPr id="12" name="TextBox 11"/>
          <p:cNvSpPr txBox="1"/>
          <p:nvPr/>
        </p:nvSpPr>
        <p:spPr>
          <a:xfrm>
            <a:off x="6446520" y="1947672"/>
            <a:ext cx="2103120" cy="347472"/>
          </a:xfrm>
          <a:prstGeom prst="rect">
            <a:avLst/>
          </a:prstGeom>
          <a:noFill/>
        </p:spPr>
        <p:txBody>
          <a:bodyPr wrap="square">
            <a:spAutoFit/>
          </a:bodyPr>
          <a:lstStyle/>
          <a:p>
            <a:pPr algn="l"/>
            <a:r>
              <a:rPr sz="1200" b="1">
                <a:solidFill>
                  <a:srgbClr val="FFFFFF"/>
                </a:solidFill>
              </a:rPr>
              <a:t>bHUB Status</a:t>
            </a:r>
          </a:p>
        </p:txBody>
      </p:sp>
      <p:sp>
        <p:nvSpPr>
          <p:cNvPr id="13" name="TextBox 12"/>
          <p:cNvSpPr txBox="1"/>
          <p:nvPr/>
        </p:nvSpPr>
        <p:spPr>
          <a:xfrm>
            <a:off x="8641080" y="1947672"/>
            <a:ext cx="3291840" cy="347472"/>
          </a:xfrm>
          <a:prstGeom prst="rect">
            <a:avLst/>
          </a:prstGeom>
          <a:noFill/>
        </p:spPr>
        <p:txBody>
          <a:bodyPr wrap="square">
            <a:spAutoFit/>
          </a:bodyPr>
          <a:lstStyle/>
          <a:p>
            <a:pPr algn="l"/>
            <a:r>
              <a:rPr sz="1200" b="1">
                <a:solidFill>
                  <a:srgbClr val="FFFFFF"/>
                </a:solidFill>
              </a:rPr>
              <a:t>Biological Role</a:t>
            </a:r>
          </a:p>
        </p:txBody>
      </p:sp>
      <p:sp>
        <p:nvSpPr>
          <p:cNvPr id="14" name="Rectangle 13"/>
          <p:cNvSpPr/>
          <p:nvPr/>
        </p:nvSpPr>
        <p:spPr>
          <a:xfrm>
            <a:off x="274320" y="2395728"/>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2487168"/>
            <a:ext cx="1645919" cy="457200"/>
          </a:xfrm>
          <a:prstGeom prst="rect">
            <a:avLst/>
          </a:prstGeom>
          <a:noFill/>
        </p:spPr>
        <p:txBody>
          <a:bodyPr wrap="square">
            <a:spAutoFit/>
          </a:bodyPr>
          <a:lstStyle/>
          <a:p>
            <a:pPr algn="l"/>
            <a:r>
              <a:rPr sz="1100" b="1">
                <a:solidFill>
                  <a:srgbClr val="333333"/>
                </a:solidFill>
              </a:rPr>
              <a:t>HLA-DRA</a:t>
            </a:r>
          </a:p>
        </p:txBody>
      </p:sp>
      <p:sp>
        <p:nvSpPr>
          <p:cNvPr id="16" name="TextBox 15"/>
          <p:cNvSpPr txBox="1"/>
          <p:nvPr/>
        </p:nvSpPr>
        <p:spPr>
          <a:xfrm>
            <a:off x="2057400" y="2487168"/>
            <a:ext cx="2103120" cy="457200"/>
          </a:xfrm>
          <a:prstGeom prst="rect">
            <a:avLst/>
          </a:prstGeom>
          <a:noFill/>
        </p:spPr>
        <p:txBody>
          <a:bodyPr wrap="square">
            <a:spAutoFit/>
          </a:bodyPr>
          <a:lstStyle/>
          <a:p>
            <a:pPr algn="l"/>
            <a:r>
              <a:rPr sz="1100" b="0">
                <a:solidFill>
                  <a:srgbClr val="333333"/>
                </a:solidFill>
              </a:rPr>
              <a:t>−4.79  (top gene)</a:t>
            </a:r>
          </a:p>
        </p:txBody>
      </p:sp>
      <p:sp>
        <p:nvSpPr>
          <p:cNvPr id="17" name="TextBox 16"/>
          <p:cNvSpPr txBox="1"/>
          <p:nvPr/>
        </p:nvSpPr>
        <p:spPr>
          <a:xfrm>
            <a:off x="4251959" y="2487168"/>
            <a:ext cx="2103120" cy="457200"/>
          </a:xfrm>
          <a:prstGeom prst="rect">
            <a:avLst/>
          </a:prstGeom>
          <a:noFill/>
        </p:spPr>
        <p:txBody>
          <a:bodyPr wrap="square">
            <a:spAutoFit/>
          </a:bodyPr>
          <a:lstStyle/>
          <a:p>
            <a:pPr algn="l"/>
            <a:r>
              <a:rPr sz="1100" b="0">
                <a:solidFill>
                  <a:srgbClr val="333333"/>
                </a:solidFill>
              </a:rPr>
              <a:t>Strong separator</a:t>
            </a:r>
          </a:p>
        </p:txBody>
      </p:sp>
      <p:sp>
        <p:nvSpPr>
          <p:cNvPr id="18" name="TextBox 17"/>
          <p:cNvSpPr txBox="1"/>
          <p:nvPr/>
        </p:nvSpPr>
        <p:spPr>
          <a:xfrm>
            <a:off x="6446520" y="2487168"/>
            <a:ext cx="2103120" cy="457200"/>
          </a:xfrm>
          <a:prstGeom prst="rect">
            <a:avLst/>
          </a:prstGeom>
          <a:noFill/>
        </p:spPr>
        <p:txBody>
          <a:bodyPr wrap="square">
            <a:spAutoFit/>
          </a:bodyPr>
          <a:lstStyle/>
          <a:p>
            <a:pPr algn="l"/>
            <a:r>
              <a:rPr sz="1100" b="0">
                <a:solidFill>
                  <a:srgbClr val="D62728"/>
                </a:solidFill>
              </a:rPr>
              <a:t>Co-hub  PPI=1.0</a:t>
            </a:r>
          </a:p>
        </p:txBody>
      </p:sp>
      <p:sp>
        <p:nvSpPr>
          <p:cNvPr id="19" name="TextBox 18"/>
          <p:cNvSpPr txBox="1"/>
          <p:nvPr/>
        </p:nvSpPr>
        <p:spPr>
          <a:xfrm>
            <a:off x="8641080" y="2487168"/>
            <a:ext cx="3291840" cy="457200"/>
          </a:xfrm>
          <a:prstGeom prst="rect">
            <a:avLst/>
          </a:prstGeom>
          <a:noFill/>
        </p:spPr>
        <p:txBody>
          <a:bodyPr wrap="square">
            <a:spAutoFit/>
          </a:bodyPr>
          <a:lstStyle/>
          <a:p>
            <a:pPr algn="l"/>
            <a:r>
              <a:rPr sz="1100" b="0">
                <a:solidFill>
                  <a:srgbClr val="333333"/>
                </a:solidFill>
              </a:rPr>
              <a:t>MHC class II; immune antigen presentation</a:t>
            </a:r>
          </a:p>
        </p:txBody>
      </p:sp>
      <p:sp>
        <p:nvSpPr>
          <p:cNvPr id="20" name="Rectangle 19"/>
          <p:cNvSpPr/>
          <p:nvPr/>
        </p:nvSpPr>
        <p:spPr>
          <a:xfrm>
            <a:off x="274320" y="3054096"/>
            <a:ext cx="11612880" cy="62179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3145536"/>
            <a:ext cx="1645919" cy="457200"/>
          </a:xfrm>
          <a:prstGeom prst="rect">
            <a:avLst/>
          </a:prstGeom>
          <a:noFill/>
        </p:spPr>
        <p:txBody>
          <a:bodyPr wrap="square">
            <a:spAutoFit/>
          </a:bodyPr>
          <a:lstStyle/>
          <a:p>
            <a:pPr algn="l"/>
            <a:r>
              <a:rPr sz="1100" b="1">
                <a:solidFill>
                  <a:srgbClr val="333333"/>
                </a:solidFill>
              </a:rPr>
              <a:t>C1R</a:t>
            </a:r>
          </a:p>
        </p:txBody>
      </p:sp>
      <p:sp>
        <p:nvSpPr>
          <p:cNvPr id="22" name="TextBox 21"/>
          <p:cNvSpPr txBox="1"/>
          <p:nvPr/>
        </p:nvSpPr>
        <p:spPr>
          <a:xfrm>
            <a:off x="2057400" y="3145536"/>
            <a:ext cx="2103120" cy="457200"/>
          </a:xfrm>
          <a:prstGeom prst="rect">
            <a:avLst/>
          </a:prstGeom>
          <a:noFill/>
        </p:spPr>
        <p:txBody>
          <a:bodyPr wrap="square">
            <a:spAutoFit/>
          </a:bodyPr>
          <a:lstStyle/>
          <a:p>
            <a:pPr algn="l"/>
            <a:r>
              <a:rPr sz="1100" b="0">
                <a:solidFill>
                  <a:srgbClr val="333333"/>
                </a:solidFill>
              </a:rPr>
              <a:t>−2.96  (top 10)</a:t>
            </a:r>
          </a:p>
        </p:txBody>
      </p:sp>
      <p:sp>
        <p:nvSpPr>
          <p:cNvPr id="23" name="TextBox 22"/>
          <p:cNvSpPr txBox="1"/>
          <p:nvPr/>
        </p:nvSpPr>
        <p:spPr>
          <a:xfrm>
            <a:off x="4251959" y="3145536"/>
            <a:ext cx="2103120" cy="457200"/>
          </a:xfrm>
          <a:prstGeom prst="rect">
            <a:avLst/>
          </a:prstGeom>
          <a:noFill/>
        </p:spPr>
        <p:txBody>
          <a:bodyPr wrap="square">
            <a:spAutoFit/>
          </a:bodyPr>
          <a:lstStyle/>
          <a:p>
            <a:pPr algn="l"/>
            <a:r>
              <a:rPr sz="1100" b="0">
                <a:solidFill>
                  <a:srgbClr val="333333"/>
                </a:solidFill>
              </a:rPr>
              <a:t>Clear contributor</a:t>
            </a:r>
          </a:p>
        </p:txBody>
      </p:sp>
      <p:sp>
        <p:nvSpPr>
          <p:cNvPr id="24" name="TextBox 23"/>
          <p:cNvSpPr txBox="1"/>
          <p:nvPr/>
        </p:nvSpPr>
        <p:spPr>
          <a:xfrm>
            <a:off x="6446520" y="3145536"/>
            <a:ext cx="2103120" cy="457200"/>
          </a:xfrm>
          <a:prstGeom prst="rect">
            <a:avLst/>
          </a:prstGeom>
          <a:noFill/>
        </p:spPr>
        <p:txBody>
          <a:bodyPr wrap="square">
            <a:spAutoFit/>
          </a:bodyPr>
          <a:lstStyle/>
          <a:p>
            <a:pPr algn="l"/>
            <a:r>
              <a:rPr sz="1100" b="0">
                <a:solidFill>
                  <a:srgbClr val="D62728"/>
                </a:solidFill>
              </a:rPr>
              <a:t>Co-hub  PPI=1.0</a:t>
            </a:r>
          </a:p>
        </p:txBody>
      </p:sp>
      <p:sp>
        <p:nvSpPr>
          <p:cNvPr id="25" name="TextBox 24"/>
          <p:cNvSpPr txBox="1"/>
          <p:nvPr/>
        </p:nvSpPr>
        <p:spPr>
          <a:xfrm>
            <a:off x="8641080" y="3145536"/>
            <a:ext cx="3291840" cy="457200"/>
          </a:xfrm>
          <a:prstGeom prst="rect">
            <a:avLst/>
          </a:prstGeom>
          <a:noFill/>
        </p:spPr>
        <p:txBody>
          <a:bodyPr wrap="square">
            <a:spAutoFit/>
          </a:bodyPr>
          <a:lstStyle/>
          <a:p>
            <a:pPr algn="l"/>
            <a:r>
              <a:rPr sz="1100" b="0">
                <a:solidFill>
                  <a:srgbClr val="333333"/>
                </a:solidFill>
              </a:rPr>
              <a:t>Complement C1r; classical pathway</a:t>
            </a:r>
          </a:p>
        </p:txBody>
      </p:sp>
      <p:sp>
        <p:nvSpPr>
          <p:cNvPr id="26" name="Rectangle 25"/>
          <p:cNvSpPr/>
          <p:nvPr/>
        </p:nvSpPr>
        <p:spPr>
          <a:xfrm>
            <a:off x="274320" y="371246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3803904"/>
            <a:ext cx="1645919" cy="457200"/>
          </a:xfrm>
          <a:prstGeom prst="rect">
            <a:avLst/>
          </a:prstGeom>
          <a:noFill/>
        </p:spPr>
        <p:txBody>
          <a:bodyPr wrap="square">
            <a:spAutoFit/>
          </a:bodyPr>
          <a:lstStyle/>
          <a:p>
            <a:pPr algn="l"/>
            <a:r>
              <a:rPr sz="1100" b="1">
                <a:solidFill>
                  <a:srgbClr val="333333"/>
                </a:solidFill>
              </a:rPr>
              <a:t>SLC9A9</a:t>
            </a:r>
          </a:p>
        </p:txBody>
      </p:sp>
      <p:sp>
        <p:nvSpPr>
          <p:cNvPr id="28" name="TextBox 27"/>
          <p:cNvSpPr txBox="1"/>
          <p:nvPr/>
        </p:nvSpPr>
        <p:spPr>
          <a:xfrm>
            <a:off x="2057400" y="3803904"/>
            <a:ext cx="2103120" cy="457200"/>
          </a:xfrm>
          <a:prstGeom prst="rect">
            <a:avLst/>
          </a:prstGeom>
          <a:noFill/>
        </p:spPr>
        <p:txBody>
          <a:bodyPr wrap="square">
            <a:spAutoFit/>
          </a:bodyPr>
          <a:lstStyle/>
          <a:p>
            <a:pPr algn="l"/>
            <a:r>
              <a:rPr sz="1100" b="0">
                <a:solidFill>
                  <a:srgbClr val="333333"/>
                </a:solidFill>
              </a:rPr>
              <a:t>−3.66  (top 5)</a:t>
            </a:r>
          </a:p>
        </p:txBody>
      </p:sp>
      <p:sp>
        <p:nvSpPr>
          <p:cNvPr id="29" name="TextBox 28"/>
          <p:cNvSpPr txBox="1"/>
          <p:nvPr/>
        </p:nvSpPr>
        <p:spPr>
          <a:xfrm>
            <a:off x="4251959" y="3803904"/>
            <a:ext cx="2103120" cy="457200"/>
          </a:xfrm>
          <a:prstGeom prst="rect">
            <a:avLst/>
          </a:prstGeom>
          <a:noFill/>
        </p:spPr>
        <p:txBody>
          <a:bodyPr wrap="square">
            <a:spAutoFit/>
          </a:bodyPr>
          <a:lstStyle/>
          <a:p>
            <a:pPr algn="l"/>
            <a:r>
              <a:rPr sz="1100" b="0">
                <a:solidFill>
                  <a:srgbClr val="333333"/>
                </a:solidFill>
              </a:rPr>
              <a:t>Contributor</a:t>
            </a:r>
          </a:p>
        </p:txBody>
      </p:sp>
      <p:sp>
        <p:nvSpPr>
          <p:cNvPr id="30" name="TextBox 29"/>
          <p:cNvSpPr txBox="1"/>
          <p:nvPr/>
        </p:nvSpPr>
        <p:spPr>
          <a:xfrm>
            <a:off x="6446520" y="3803904"/>
            <a:ext cx="2103120" cy="457200"/>
          </a:xfrm>
          <a:prstGeom prst="rect">
            <a:avLst/>
          </a:prstGeom>
          <a:noFill/>
        </p:spPr>
        <p:txBody>
          <a:bodyPr wrap="square">
            <a:spAutoFit/>
          </a:bodyPr>
          <a:lstStyle/>
          <a:p>
            <a:pPr algn="l"/>
            <a:r>
              <a:rPr sz="1100" b="0">
                <a:solidFill>
                  <a:srgbClr val="D62728"/>
                </a:solidFill>
              </a:rPr>
              <a:t>Co-hub  PPI=1.0</a:t>
            </a:r>
          </a:p>
        </p:txBody>
      </p:sp>
      <p:sp>
        <p:nvSpPr>
          <p:cNvPr id="31" name="TextBox 30"/>
          <p:cNvSpPr txBox="1"/>
          <p:nvPr/>
        </p:nvSpPr>
        <p:spPr>
          <a:xfrm>
            <a:off x="8641080" y="3803904"/>
            <a:ext cx="3291840" cy="457200"/>
          </a:xfrm>
          <a:prstGeom prst="rect">
            <a:avLst/>
          </a:prstGeom>
          <a:noFill/>
        </p:spPr>
        <p:txBody>
          <a:bodyPr wrap="square">
            <a:spAutoFit/>
          </a:bodyPr>
          <a:lstStyle/>
          <a:p>
            <a:pPr algn="l"/>
            <a:r>
              <a:rPr sz="1100" b="0">
                <a:solidFill>
                  <a:srgbClr val="333333"/>
                </a:solidFill>
              </a:rPr>
              <a:t>Na⁺/H⁺ exchanger; endosomal pH</a:t>
            </a:r>
          </a:p>
        </p:txBody>
      </p:sp>
      <p:sp>
        <p:nvSpPr>
          <p:cNvPr id="32" name="Rectangle 31"/>
          <p:cNvSpPr/>
          <p:nvPr/>
        </p:nvSpPr>
        <p:spPr>
          <a:xfrm>
            <a:off x="274320" y="4370832"/>
            <a:ext cx="11612880" cy="62179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4462272"/>
            <a:ext cx="1645919" cy="457200"/>
          </a:xfrm>
          <a:prstGeom prst="rect">
            <a:avLst/>
          </a:prstGeom>
          <a:noFill/>
        </p:spPr>
        <p:txBody>
          <a:bodyPr wrap="square">
            <a:spAutoFit/>
          </a:bodyPr>
          <a:lstStyle/>
          <a:p>
            <a:pPr algn="l"/>
            <a:r>
              <a:rPr sz="1100" b="1">
                <a:solidFill>
                  <a:srgbClr val="333333"/>
                </a:solidFill>
              </a:rPr>
              <a:t>C1S</a:t>
            </a:r>
          </a:p>
        </p:txBody>
      </p:sp>
      <p:sp>
        <p:nvSpPr>
          <p:cNvPr id="34" name="TextBox 33"/>
          <p:cNvSpPr txBox="1"/>
          <p:nvPr/>
        </p:nvSpPr>
        <p:spPr>
          <a:xfrm>
            <a:off x="2057400" y="4462272"/>
            <a:ext cx="2103120" cy="457200"/>
          </a:xfrm>
          <a:prstGeom prst="rect">
            <a:avLst/>
          </a:prstGeom>
          <a:noFill/>
        </p:spPr>
        <p:txBody>
          <a:bodyPr wrap="square">
            <a:spAutoFit/>
          </a:bodyPr>
          <a:lstStyle/>
          <a:p>
            <a:pPr algn="l"/>
            <a:r>
              <a:rPr sz="1100" b="0">
                <a:solidFill>
                  <a:srgbClr val="333333"/>
                </a:solidFill>
              </a:rPr>
              <a:t>Top 10</a:t>
            </a:r>
          </a:p>
        </p:txBody>
      </p:sp>
      <p:sp>
        <p:nvSpPr>
          <p:cNvPr id="35" name="TextBox 34"/>
          <p:cNvSpPr txBox="1"/>
          <p:nvPr/>
        </p:nvSpPr>
        <p:spPr>
          <a:xfrm>
            <a:off x="4251959" y="4462272"/>
            <a:ext cx="2103120" cy="457200"/>
          </a:xfrm>
          <a:prstGeom prst="rect">
            <a:avLst/>
          </a:prstGeom>
          <a:noFill/>
        </p:spPr>
        <p:txBody>
          <a:bodyPr wrap="square">
            <a:spAutoFit/>
          </a:bodyPr>
          <a:lstStyle/>
          <a:p>
            <a:pPr algn="l"/>
            <a:r>
              <a:rPr sz="1100" b="0">
                <a:solidFill>
                  <a:srgbClr val="333333"/>
                </a:solidFill>
              </a:rPr>
              <a:t>Contributor</a:t>
            </a:r>
          </a:p>
        </p:txBody>
      </p:sp>
      <p:sp>
        <p:nvSpPr>
          <p:cNvPr id="36" name="TextBox 35"/>
          <p:cNvSpPr txBox="1"/>
          <p:nvPr/>
        </p:nvSpPr>
        <p:spPr>
          <a:xfrm>
            <a:off x="6446520" y="4462272"/>
            <a:ext cx="2103120" cy="457200"/>
          </a:xfrm>
          <a:prstGeom prst="rect">
            <a:avLst/>
          </a:prstGeom>
          <a:noFill/>
        </p:spPr>
        <p:txBody>
          <a:bodyPr wrap="square">
            <a:spAutoFit/>
          </a:bodyPr>
          <a:lstStyle/>
          <a:p>
            <a:pPr algn="l"/>
            <a:r>
              <a:rPr sz="1100" b="0">
                <a:solidFill>
                  <a:srgbClr val="D65F00"/>
                </a:solidFill>
              </a:rPr>
              <a:t>MGS4-hub  PPI=1.0</a:t>
            </a:r>
          </a:p>
        </p:txBody>
      </p:sp>
      <p:sp>
        <p:nvSpPr>
          <p:cNvPr id="37" name="TextBox 36"/>
          <p:cNvSpPr txBox="1"/>
          <p:nvPr/>
        </p:nvSpPr>
        <p:spPr>
          <a:xfrm>
            <a:off x="8641080" y="4462272"/>
            <a:ext cx="3291840" cy="457200"/>
          </a:xfrm>
          <a:prstGeom prst="rect">
            <a:avLst/>
          </a:prstGeom>
          <a:noFill/>
        </p:spPr>
        <p:txBody>
          <a:bodyPr wrap="square">
            <a:spAutoFit/>
          </a:bodyPr>
          <a:lstStyle/>
          <a:p>
            <a:pPr algn="l"/>
            <a:r>
              <a:rPr sz="1100" b="0">
                <a:solidFill>
                  <a:srgbClr val="333333"/>
                </a:solidFill>
              </a:rPr>
              <a:t>Complement C1s; activates C1r</a:t>
            </a:r>
          </a:p>
        </p:txBody>
      </p:sp>
      <p:sp>
        <p:nvSpPr>
          <p:cNvPr id="38" name="Rectangle 37"/>
          <p:cNvSpPr/>
          <p:nvPr/>
        </p:nvSpPr>
        <p:spPr>
          <a:xfrm>
            <a:off x="274320" y="5029200"/>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 y="5120640"/>
            <a:ext cx="1645919" cy="457200"/>
          </a:xfrm>
          <a:prstGeom prst="rect">
            <a:avLst/>
          </a:prstGeom>
          <a:noFill/>
        </p:spPr>
        <p:txBody>
          <a:bodyPr wrap="square">
            <a:spAutoFit/>
          </a:bodyPr>
          <a:lstStyle/>
          <a:p>
            <a:pPr algn="l"/>
            <a:r>
              <a:rPr sz="1100" b="1">
                <a:solidFill>
                  <a:srgbClr val="333333"/>
                </a:solidFill>
              </a:rPr>
              <a:t>C3</a:t>
            </a:r>
          </a:p>
        </p:txBody>
      </p:sp>
      <p:sp>
        <p:nvSpPr>
          <p:cNvPr id="40" name="TextBox 39"/>
          <p:cNvSpPr txBox="1"/>
          <p:nvPr/>
        </p:nvSpPr>
        <p:spPr>
          <a:xfrm>
            <a:off x="2057400" y="5120640"/>
            <a:ext cx="2103120" cy="457200"/>
          </a:xfrm>
          <a:prstGeom prst="rect">
            <a:avLst/>
          </a:prstGeom>
          <a:noFill/>
        </p:spPr>
        <p:txBody>
          <a:bodyPr wrap="square">
            <a:spAutoFit/>
          </a:bodyPr>
          <a:lstStyle/>
          <a:p>
            <a:pPr algn="l"/>
            <a:r>
              <a:rPr sz="1100" b="0">
                <a:solidFill>
                  <a:srgbClr val="333333"/>
                </a:solidFill>
              </a:rPr>
              <a:t>Present</a:t>
            </a:r>
          </a:p>
        </p:txBody>
      </p:sp>
      <p:sp>
        <p:nvSpPr>
          <p:cNvPr id="41" name="TextBox 40"/>
          <p:cNvSpPr txBox="1"/>
          <p:nvPr/>
        </p:nvSpPr>
        <p:spPr>
          <a:xfrm>
            <a:off x="4251959" y="5120640"/>
            <a:ext cx="2103120" cy="457200"/>
          </a:xfrm>
          <a:prstGeom prst="rect">
            <a:avLst/>
          </a:prstGeom>
          <a:noFill/>
        </p:spPr>
        <p:txBody>
          <a:bodyPr wrap="square">
            <a:spAutoFit/>
          </a:bodyPr>
          <a:lstStyle/>
          <a:p>
            <a:pPr algn="l"/>
            <a:r>
              <a:rPr sz="1100" b="0">
                <a:solidFill>
                  <a:srgbClr val="333333"/>
                </a:solidFill>
              </a:rPr>
              <a:t>Contributor</a:t>
            </a:r>
          </a:p>
        </p:txBody>
      </p:sp>
      <p:sp>
        <p:nvSpPr>
          <p:cNvPr id="42" name="TextBox 41"/>
          <p:cNvSpPr txBox="1"/>
          <p:nvPr/>
        </p:nvSpPr>
        <p:spPr>
          <a:xfrm>
            <a:off x="6446520" y="5120640"/>
            <a:ext cx="2103120" cy="457200"/>
          </a:xfrm>
          <a:prstGeom prst="rect">
            <a:avLst/>
          </a:prstGeom>
          <a:noFill/>
        </p:spPr>
        <p:txBody>
          <a:bodyPr wrap="square">
            <a:spAutoFit/>
          </a:bodyPr>
          <a:lstStyle/>
          <a:p>
            <a:pPr algn="l"/>
            <a:r>
              <a:rPr sz="1100" b="0">
                <a:solidFill>
                  <a:srgbClr val="D65F00"/>
                </a:solidFill>
              </a:rPr>
              <a:t>MGS4-hub  PPI=1.0</a:t>
            </a:r>
          </a:p>
        </p:txBody>
      </p:sp>
      <p:sp>
        <p:nvSpPr>
          <p:cNvPr id="43" name="TextBox 42"/>
          <p:cNvSpPr txBox="1"/>
          <p:nvPr/>
        </p:nvSpPr>
        <p:spPr>
          <a:xfrm>
            <a:off x="8641080" y="5120640"/>
            <a:ext cx="3291840" cy="457200"/>
          </a:xfrm>
          <a:prstGeom prst="rect">
            <a:avLst/>
          </a:prstGeom>
          <a:noFill/>
        </p:spPr>
        <p:txBody>
          <a:bodyPr wrap="square">
            <a:spAutoFit/>
          </a:bodyPr>
          <a:lstStyle/>
          <a:p>
            <a:pPr algn="l"/>
            <a:r>
              <a:rPr sz="1100" b="0">
                <a:solidFill>
                  <a:srgbClr val="333333"/>
                </a:solidFill>
              </a:rPr>
              <a:t>Central complement effector</a:t>
            </a:r>
          </a:p>
        </p:txBody>
      </p:sp>
      <p:sp>
        <p:nvSpPr>
          <p:cNvPr id="44" name="Rectangle 43"/>
          <p:cNvSpPr/>
          <p:nvPr/>
        </p:nvSpPr>
        <p:spPr>
          <a:xfrm>
            <a:off x="274320" y="5687568"/>
            <a:ext cx="11612880" cy="62179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0040" y="5779007"/>
            <a:ext cx="1645919" cy="457200"/>
          </a:xfrm>
          <a:prstGeom prst="rect">
            <a:avLst/>
          </a:prstGeom>
          <a:noFill/>
        </p:spPr>
        <p:txBody>
          <a:bodyPr wrap="square">
            <a:spAutoFit/>
          </a:bodyPr>
          <a:lstStyle/>
          <a:p>
            <a:pPr algn="l"/>
            <a:r>
              <a:rPr sz="1100" b="1">
                <a:solidFill>
                  <a:srgbClr val="333333"/>
                </a:solidFill>
              </a:rPr>
              <a:t>SERPING1</a:t>
            </a:r>
          </a:p>
        </p:txBody>
      </p:sp>
      <p:sp>
        <p:nvSpPr>
          <p:cNvPr id="46" name="TextBox 45"/>
          <p:cNvSpPr txBox="1"/>
          <p:nvPr/>
        </p:nvSpPr>
        <p:spPr>
          <a:xfrm>
            <a:off x="2057400" y="5779007"/>
            <a:ext cx="2103120" cy="457200"/>
          </a:xfrm>
          <a:prstGeom prst="rect">
            <a:avLst/>
          </a:prstGeom>
          <a:noFill/>
        </p:spPr>
        <p:txBody>
          <a:bodyPr wrap="square">
            <a:spAutoFit/>
          </a:bodyPr>
          <a:lstStyle/>
          <a:p>
            <a:pPr algn="l"/>
            <a:r>
              <a:rPr sz="1100" b="0">
                <a:solidFill>
                  <a:srgbClr val="333333"/>
                </a:solidFill>
              </a:rPr>
              <a:t>−1.11  (top 20)</a:t>
            </a:r>
          </a:p>
        </p:txBody>
      </p:sp>
      <p:sp>
        <p:nvSpPr>
          <p:cNvPr id="47" name="TextBox 46"/>
          <p:cNvSpPr txBox="1"/>
          <p:nvPr/>
        </p:nvSpPr>
        <p:spPr>
          <a:xfrm>
            <a:off x="4251959" y="5779007"/>
            <a:ext cx="2103120" cy="457200"/>
          </a:xfrm>
          <a:prstGeom prst="rect">
            <a:avLst/>
          </a:prstGeom>
          <a:noFill/>
        </p:spPr>
        <p:txBody>
          <a:bodyPr wrap="square">
            <a:spAutoFit/>
          </a:bodyPr>
          <a:lstStyle/>
          <a:p>
            <a:pPr algn="l"/>
            <a:r>
              <a:rPr sz="1100" b="0">
                <a:solidFill>
                  <a:srgbClr val="333333"/>
                </a:solidFill>
              </a:rPr>
              <a:t>Present</a:t>
            </a:r>
          </a:p>
        </p:txBody>
      </p:sp>
      <p:sp>
        <p:nvSpPr>
          <p:cNvPr id="48" name="TextBox 47"/>
          <p:cNvSpPr txBox="1"/>
          <p:nvPr/>
        </p:nvSpPr>
        <p:spPr>
          <a:xfrm>
            <a:off x="6446520" y="5779007"/>
            <a:ext cx="2103120" cy="457200"/>
          </a:xfrm>
          <a:prstGeom prst="rect">
            <a:avLst/>
          </a:prstGeom>
          <a:noFill/>
        </p:spPr>
        <p:txBody>
          <a:bodyPr wrap="square">
            <a:spAutoFit/>
          </a:bodyPr>
          <a:lstStyle/>
          <a:p>
            <a:pPr algn="l"/>
            <a:r>
              <a:rPr sz="1100" b="0">
                <a:solidFill>
                  <a:srgbClr val="D65F00"/>
                </a:solidFill>
              </a:rPr>
              <a:t>MGS4-hub  PPI=1.0</a:t>
            </a:r>
          </a:p>
        </p:txBody>
      </p:sp>
      <p:sp>
        <p:nvSpPr>
          <p:cNvPr id="49" name="TextBox 48"/>
          <p:cNvSpPr txBox="1"/>
          <p:nvPr/>
        </p:nvSpPr>
        <p:spPr>
          <a:xfrm>
            <a:off x="8641080" y="5779007"/>
            <a:ext cx="3291840" cy="457200"/>
          </a:xfrm>
          <a:prstGeom prst="rect">
            <a:avLst/>
          </a:prstGeom>
          <a:noFill/>
        </p:spPr>
        <p:txBody>
          <a:bodyPr wrap="square">
            <a:spAutoFit/>
          </a:bodyPr>
          <a:lstStyle/>
          <a:p>
            <a:pPr algn="l"/>
            <a:r>
              <a:rPr sz="1100" b="0">
                <a:solidFill>
                  <a:srgbClr val="333333"/>
                </a:solidFill>
              </a:rPr>
              <a:t>C1 inhibitor; complement regulator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1096</TotalTime>
  <Words>1275</Words>
  <Application>Microsoft Office PowerPoint</Application>
  <PresentationFormat>Custom</PresentationFormat>
  <Paragraphs>176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Brayan Gutierrez</dc:creator>
  <cp:keywords/>
  <dc:description>generated using python-pptx</dc:description>
  <cp:lastModifiedBy>Brayan Gutierrez</cp:lastModifiedBy>
  <cp:revision>2</cp:revision>
  <dcterms:created xsi:type="dcterms:W3CDTF">2013-01-27T09:14:16Z</dcterms:created>
  <dcterms:modified xsi:type="dcterms:W3CDTF">2026-06-09T19:26:28Z</dcterms:modified>
  <cp:category/>
</cp:coreProperties>
</file>