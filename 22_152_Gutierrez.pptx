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9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66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25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cover slide. Keep the title concise and place track/session information in the lower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9E864-D8EB-F273-7E20-A155E6A4F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0712F5-4A81-B9DB-C1DA-0275F5432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F32DF4-5513-37FA-CCA9-D0E287E4F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88426-4371-8991-4FBF-041F176E1C3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6746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E988C-10C7-5160-80B8-A04BBEAD1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EC80A-43F1-7C73-D48D-97FB151D6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B95EC-611D-ADB1-8900-730047E1F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EE8AA-99A7-0307-B03D-92C90169A18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0029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7E929-AC0C-E583-72AF-403687916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94DE1-1051-0FB8-1EE5-51BFCB0C6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D97FB3-CC5F-04D1-55C1-AF47B3CFF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FA793-B3A4-432F-F2CC-ABFE3E11E7D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1009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A904D-5499-45C0-3A55-D361F7C13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2E032-A5EA-874F-DF54-722B018CD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80C0F9-5CC1-52D8-B58A-5E01DB5AE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3B5D3-8439-C1E7-79B8-E8FD18C361A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6418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FE9B7-4051-EB9E-6677-CA17795BA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149CF-7C93-AE29-74A5-1AB7C5B09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F5926-8C07-D9BB-FDB4-845F7ABFA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F28A8-4F94-E4AF-C75C-FCE2F13A279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5821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AAA7A-32A0-9004-E8B4-4BB59882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7AAA95-2506-3F86-0553-5DD53B3FC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A83F83-A65D-96BE-0599-836D4E1E4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75499-028A-D70B-8C00-89267CF8A24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1353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672AE-5CAC-C1FB-2BFE-EEEE74A83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84E4B-F1BB-65F4-FF7E-2B03CFC56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CF61F8-45E7-0CF4-0EE7-659CC4C4B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C8331-A6EB-7C05-F010-C95AC8F2536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0334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D2FB8-1F5E-6C07-902F-55E26EA71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8F9E8-E1FB-7EAC-4E23-003E6F7CE7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CD03B-1F75-6108-F723-498C61718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DB50B-65C5-6686-632E-7C70F9EEC4E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9542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0C362-8F4A-51BE-8F0B-1A1238FB0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DD2EE-BE2D-0881-6101-F546E831B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03F8F1-92BD-E180-86CC-BECD1701F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725B6-7ECD-BCEF-55E9-1F78AD012D5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98550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ECF01-47D0-7889-7A00-843EA1D2A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9EE7C-3116-9C0D-3EFB-EAE42181D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C91CD5-AA94-466D-8AE4-725275604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37621-E073-54D0-4969-7DB14D19798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64727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4FC24-84D0-9689-D566-7314D1752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AECC81-2ADE-18DE-45B8-9FE19D865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8A5D2-A6F5-E211-7D9E-E57586987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EC35C-4A63-ACAE-CF9D-B7A69F3765F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74652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D0DBB-B5B4-1985-3B08-E6CB99C7F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3226BE-2D6A-7EC1-790F-07DB814F0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7E3E6E-D8BA-8F7F-F738-DCD25DBEE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5CDEF-500E-6F74-8D33-21F82C2A5CB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26130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F572E-37D6-C974-8925-46C71301E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683F8-8238-F827-DE97-7484F46F2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A0233F-B186-4A5D-FDC4-738A8DF7A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F35B1-95E0-122F-B3F3-67B9318B356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17853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D0B2B-C16B-EFC2-F5C2-CC01F95D7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BE57EF-426F-9E2A-C404-C8A93F0A8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B07D5-448B-3D23-2B53-BE425B1DA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54D5A-7413-C506-2D1D-2D163E8366D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03357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FFA7E-F4C8-20B7-0E5A-8647527AE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A7D4F1-434E-8200-8222-0D6C86AC6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041F0-2032-2082-562A-BBE02ED4D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31B5F-E32E-02FA-38A1-7A7866CCB9E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0439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B6489-AD0F-15E7-FFD8-53792D08F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80243-0A9D-4566-DBBF-BCEF66244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A96004-2A15-6664-1D0E-7402AC652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D2896-79AE-7837-20E0-7F59ED0D10F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70947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541F6-AFAB-228F-634B-DC0C91364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0A3D6-BADB-47D3-C432-3301E7128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FDB5F-8E80-DE8E-662B-3734BCB93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EE748-1726-A094-84BE-559E11CACDC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69046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3AC75-38E3-97DB-3E81-D1FF4F1A8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C6C49-43D2-B2A3-41C2-29CC950C9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7589E-43F8-FA23-EBA4-166C0A125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default for dense content. Keep the left side as narrative and the right side as structured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74E80-C7BD-640D-10F3-A069DAD5235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77092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final Q&amp;A slide. Keep contact details short and readable from the back of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375C9C4-A553-40BE-9547-A301280E7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43CAE6E-4C38-4D1E-8730-EFF1517FB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85DC9AD-018D-40CA-A6D8-34E504BDE8F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CD502A0-457D-42A7-B3A7-99A4B0E106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4C64DB-28BF-4CE3-AFC9-2D673C4834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BADE5BD-3AAD-4483-AF95-2FC2200A13D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76166F-C808-4328-8187-F1F7F5CA84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54FDFE-C184-42F6-AC19-DF1F460FA41C}"/>
              </a:ext>
            </a:extLst>
          </p:cNvPr>
          <p:cNvSpPr>
            <a:spLocks noGrp="1"/>
          </p:cNvSpPr>
          <p:nvPr/>
        </p:nvSpPr>
        <p:spPr>
          <a:xfrm>
            <a:off x="190500" y="0"/>
            <a:ext cx="38100" cy="6858000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79204"/>
            <a:ext cx="2855686" cy="1219200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BE89073-9A3C-4DD8-9B74-CFF2D7921BC3}"/>
              </a:ext>
            </a:extLst>
          </p:cNvPr>
          <p:cNvSpPr>
            <a:spLocks noGrp="1"/>
          </p:cNvSpPr>
          <p:nvPr/>
        </p:nvSpPr>
        <p:spPr>
          <a:xfrm>
            <a:off x="8359973" y="659608"/>
            <a:ext cx="3143250" cy="529656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4D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847468F-3A20-4BC7-9276-AC4AD9D9F725}"/>
              </a:ext>
            </a:extLst>
          </p:cNvPr>
          <p:cNvSpPr>
            <a:spLocks noGrp="1"/>
          </p:cNvSpPr>
          <p:nvPr/>
        </p:nvSpPr>
        <p:spPr>
          <a:xfrm>
            <a:off x="8359973" y="635795"/>
            <a:ext cx="3143250" cy="47625"/>
          </a:xfrm>
          <a:prstGeom prst="roundRect">
            <a:avLst>
              <a:gd name="adj" fmla="val 50000"/>
            </a:avLst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772F60-4B70-457F-9292-C988877457CA}"/>
              </a:ext>
            </a:extLst>
          </p:cNvPr>
          <p:cNvSpPr>
            <a:spLocks noGrp="1"/>
          </p:cNvSpPr>
          <p:nvPr/>
        </p:nvSpPr>
        <p:spPr>
          <a:xfrm>
            <a:off x="8550473" y="830461"/>
            <a:ext cx="2762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7A0019"/>
                </a:solidFill>
              </a:defRPr>
            </a:pPr>
            <a:r>
              <a:rPr sz="1425" b="1" dirty="0">
                <a:solidFill>
                  <a:srgbClr val="7A0019"/>
                </a:solidFill>
              </a:rPr>
              <a:t>Session </a:t>
            </a:r>
            <a:r>
              <a:rPr lang="en-US" sz="1425" b="1" dirty="0">
                <a:solidFill>
                  <a:srgbClr val="7A0019"/>
                </a:solidFill>
              </a:rPr>
              <a:t>22 </a:t>
            </a:r>
            <a:r>
              <a:rPr sz="1425" b="1" dirty="0">
                <a:solidFill>
                  <a:srgbClr val="7A0019"/>
                </a:solidFill>
              </a:rPr>
              <a:t>/ </a:t>
            </a:r>
            <a:r>
              <a:rPr lang="en-US" sz="1425" b="1" dirty="0">
                <a:solidFill>
                  <a:srgbClr val="7A0019"/>
                </a:solidFill>
              </a:rPr>
              <a:t>Analytics </a:t>
            </a:r>
            <a:r>
              <a:rPr sz="1425" b="1" dirty="0">
                <a:solidFill>
                  <a:srgbClr val="7A0019"/>
                </a:solidFill>
              </a:rPr>
              <a:t>Track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9EE356-11AA-4829-BBCF-B07F77E399AC}"/>
              </a:ext>
            </a:extLst>
          </p:cNvPr>
          <p:cNvSpPr>
            <a:spLocks noGrp="1"/>
          </p:cNvSpPr>
          <p:nvPr/>
        </p:nvSpPr>
        <p:spPr>
          <a:xfrm>
            <a:off x="876300" y="6267450"/>
            <a:ext cx="2762250" cy="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E5A56"/>
                </a:solidFill>
              </a:defRPr>
            </a:pPr>
            <a:endParaRPr sz="1350" b="0" dirty="0">
              <a:solidFill>
                <a:srgbClr val="5E5A56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AD200FF-8B8D-6E07-C5DC-971406A54A33}"/>
              </a:ext>
            </a:extLst>
          </p:cNvPr>
          <p:cNvSpPr>
            <a:spLocks noGrp="1"/>
          </p:cNvSpPr>
          <p:nvPr/>
        </p:nvSpPr>
        <p:spPr>
          <a:xfrm>
            <a:off x="685800" y="1940719"/>
            <a:ext cx="10820400" cy="3219109"/>
          </a:xfrm>
          <a:prstGeom prst="roundRect">
            <a:avLst>
              <a:gd name="adj" fmla="val 3008"/>
            </a:avLst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810A53-27E5-BCD9-7B12-3D43FBE584B8}"/>
              </a:ext>
            </a:extLst>
          </p:cNvPr>
          <p:cNvSpPr>
            <a:spLocks noGrp="1"/>
          </p:cNvSpPr>
          <p:nvPr/>
        </p:nvSpPr>
        <p:spPr>
          <a:xfrm>
            <a:off x="685800" y="1940720"/>
            <a:ext cx="10820400" cy="147638"/>
          </a:xfrm>
          <a:prstGeom prst="rect">
            <a:avLst/>
          </a:prstGeom>
          <a:solidFill>
            <a:srgbClr val="FFCC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0F1714-C145-9BFE-18FA-24773D76ECD1}"/>
              </a:ext>
            </a:extLst>
          </p:cNvPr>
          <p:cNvSpPr>
            <a:spLocks noGrp="1"/>
          </p:cNvSpPr>
          <p:nvPr/>
        </p:nvSpPr>
        <p:spPr>
          <a:xfrm>
            <a:off x="1009650" y="2776198"/>
            <a:ext cx="703707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rtl="0"/>
            <a:r>
              <a:rPr lang="en-US" sz="2400" b="1" dirty="0">
                <a:solidFill>
                  <a:schemeClr val="bg1"/>
                </a:solidFill>
              </a:rPr>
              <a:t>Robust Clustering Analysis of Genes Related to Age-related Macular Degeneration using RNA-Seq</a:t>
            </a:r>
            <a:endParaRPr lang="en-US" sz="2400" dirty="0">
              <a:solidFill>
                <a:schemeClr val="bg1"/>
              </a:solidFill>
              <a:effectLst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524F25-E193-8A54-D54A-82EAB49C1B9B}"/>
              </a:ext>
            </a:extLst>
          </p:cNvPr>
          <p:cNvSpPr>
            <a:spLocks noGrp="1"/>
          </p:cNvSpPr>
          <p:nvPr/>
        </p:nvSpPr>
        <p:spPr>
          <a:xfrm>
            <a:off x="1009650" y="3883820"/>
            <a:ext cx="5829300" cy="14288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CC7579-E1BA-9A9D-E8E0-664017E5616B}"/>
              </a:ext>
            </a:extLst>
          </p:cNvPr>
          <p:cNvSpPr>
            <a:spLocks noGrp="1"/>
          </p:cNvSpPr>
          <p:nvPr/>
        </p:nvSpPr>
        <p:spPr>
          <a:xfrm>
            <a:off x="1009650" y="4055270"/>
            <a:ext cx="4943094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rPr lang="en-US" sz="1500" b="0" dirty="0">
                <a:solidFill>
                  <a:srgbClr val="FFFFFF"/>
                </a:solidFill>
              </a:rPr>
              <a:t>Brayan Gutierrez, Dr. Rinki Ratnapriya, Dr. Arko Barman</a:t>
            </a:r>
            <a:r>
              <a:rPr sz="1500" b="0" dirty="0">
                <a:solidFill>
                  <a:srgbClr val="FFFFFF"/>
                </a:solidFill>
              </a:rPr>
              <a:t> • </a:t>
            </a:r>
            <a:r>
              <a:rPr lang="en-US" sz="1500" b="0" dirty="0">
                <a:solidFill>
                  <a:srgbClr val="FFFFFF"/>
                </a:solidFill>
              </a:rPr>
              <a:t>Rice University, Baylor College of Medicine, Rice University</a:t>
            </a:r>
            <a:r>
              <a:rPr sz="1500" b="0" dirty="0">
                <a:solidFill>
                  <a:srgbClr val="FFFFFF"/>
                </a:solidFill>
              </a:rPr>
              <a:t> • </a:t>
            </a:r>
            <a:endParaRPr lang="en-US" sz="1500" b="0" dirty="0">
              <a:solidFill>
                <a:srgbClr val="FFFFFF"/>
              </a:solidFill>
            </a:endParaRP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lang="en-US" sz="1500" b="0" dirty="0">
                <a:solidFill>
                  <a:srgbClr val="FFFFFF"/>
                </a:solidFill>
              </a:rPr>
              <a:t>Presenter: Brayan Gutierrez</a:t>
            </a:r>
            <a:endParaRPr sz="1500" b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19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CC2B63-4C3E-4680-A992-D125ECE7B4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0F4451-5B25-4A4C-85E8-DB74382DBEA2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E032A8-31B5-483A-B8B8-AB5D7A787D97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Motivation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ADD4DC-0A49-4FAD-9192-E7257168FBA2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77E3E1-B4E8-4004-8690-BB8DF06C15B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3EAC61-E65A-4981-A5CD-715DC02A39D7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862DDF-43C0-493D-B681-C3290F4E020E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AMD is a leading cause of vision loss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Disease driven by coordinated gene networks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Need network-based analysis beyond single genes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7E0ADB-BE83-4C78-A760-8F6AF90C7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278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86141-328B-7313-6409-F6C0E8C59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75E584-F9DA-5815-E661-E5C54FA308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679749-F308-4EE7-FCF7-1CBB0FB53D06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5A9F44-16C2-855C-8A97-FA353CA01317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Challenges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3965A8-E3AB-E2CA-E078-3C052CA5B04D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FE0422-22D6-1F8E-40B0-0C3D5D9075BA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982102-C568-6667-0CF1-D9258A6AB688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CACE97-93C5-114C-B6C5-61C07650A67A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High dimensional RNA-seq data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Noise and heterogeneity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Linear</a:t>
            </a:r>
            <a:r>
              <a:rPr lang="en-US" sz="2800" dirty="0"/>
              <a:t> correlation is insufficient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C0A80F-4A93-234B-D1B9-659C8192B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508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787EF-5DC2-C6D6-F67D-806E7782D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12072D-A65F-B83B-00D5-1010CE369D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8B8566-8CF6-ECE3-67C1-84BDA80CE750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023AA4-E013-D8C4-FE92-7A016968AFD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Contributions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36698A-CF93-6AB8-8F11-A0CC8EC09831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36D3E7-F324-C3B2-1F0F-DB902564AA8B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817546-DF8D-186A-7F16-AAB4AE8A5BD4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72F65B-3830-A978-B6D7-1A812727EC46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Generalized MEGENA framework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Use of information-theoretic similarity metrics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Module quality metrics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Stability testing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Differential Module Eigengen</a:t>
            </a:r>
            <a:r>
              <a:rPr lang="en-US" sz="2800" dirty="0"/>
              <a:t>e (DME) analysis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457C6F-ACFB-BFE8-1EE6-95D247F6A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783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BA939-A4DC-0DCE-2C3C-01E4CDE09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120A56-2487-6A4F-C508-638B0B03A4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29E02A-390E-EC77-A0E9-F0C46A9C55A4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664536-EA71-950C-F3A5-5E6D809D433F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Pipeline Overview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2E34D7-9D03-CEB6-7F1A-AF8D193FEE35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A567D4-F033-F215-0379-D5299C3E9E29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964DBA-1282-C782-6003-BD7474C7780C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840F64-A25C-252D-6723-92CAD9663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4901462-F81E-B570-75EB-829EB8D3D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12900"/>
            <a:ext cx="12192000" cy="363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8571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3D574-205D-D90B-C5EC-CF2BE0131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7F021E-F236-E97F-83B1-A5FFD477E2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C13457-D6B0-C52B-8596-9647488CBB43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7C0320-4360-2D56-7A69-BC25F764E78D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Data Set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A8B3ED-8F5D-E387-4F16-7EBAAB8875AF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10CBAB-EB96-14F1-842E-B6861A356E8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B3E116-332B-F219-222A-291B1E854EF9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E147CA-6716-C65B-6FA8-CC806ACB4C35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3200" b="0" dirty="0"/>
              <a:t>105 controls, 61 late-stage AMD patients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3200" dirty="0"/>
              <a:t>81 curated genes from ML study</a:t>
            </a:r>
            <a:endParaRPr sz="32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697176-339E-3A26-F861-D580CCDCE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164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6657DD-677B-D3A4-5FB8-ED1333B14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C9F3FE-6978-C0CB-D512-30360E0610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C7AFCC-F45E-D9E8-A5B6-990B6D4149BE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EDCE2C-D24E-BF55-6988-C48C4023D5A6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Similarity Metrics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4A0EE7-7CAE-D43D-36E3-EB3D1A40D987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786590-AF9D-41AB-9254-37D726D4BCF8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166E95-58DF-D313-893E-B66093AA963F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ABF1F0-9529-C12A-5A55-A756FE9970EE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Mutual Information: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lang="en-US" sz="2800" dirty="0"/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lang="en-US" sz="2800" b="0" dirty="0"/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Adjusted Mutual Information (AMI):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lang="en-US" sz="2800" b="0" dirty="0"/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lang="en-US" sz="2800" dirty="0"/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Jensen-Shannon </a:t>
            </a:r>
            <a:r>
              <a:rPr lang="en-US" sz="2800" dirty="0"/>
              <a:t>Divergence (JSD):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A62A3-3AB2-00A8-FC75-810D456FD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E2E9358-C154-811B-FF76-520B35CB4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6304" y="1720125"/>
            <a:ext cx="4279392" cy="758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F7D100C-BD95-F0E3-A704-5B0808D3C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73" y="3128058"/>
            <a:ext cx="5010912" cy="567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A30152D2-FDF0-4FE0-193A-6D2535530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900" y="4319468"/>
            <a:ext cx="6172200" cy="678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AA6027F5-B757-F4EA-4066-98DC1206E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504" y="5079682"/>
            <a:ext cx="1840992" cy="58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659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02376-DE41-C3CE-2392-ED8AF2AE6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7D01AC-E639-5E84-52C6-B859B0BC8D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AC737C-640E-8B8E-A49B-1E943CE1DFB6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20E1C8-2136-880D-EE6B-4085E0C84CA7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Network Construction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2BF2E3-8015-2751-2E7F-E85260E8AF20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51E2F4-229C-1300-ED7A-88D459F01643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8077C7-9169-6132-5466-AD63D86EDA11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E41F4D-A673-14AB-AEBC-9359C2C9572A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3600" b="0" dirty="0"/>
              <a:t>Planar Filtered Network (PFN)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3600" dirty="0"/>
              <a:t>Sparse graph preserving strongest relationships</a:t>
            </a:r>
            <a:endParaRPr sz="36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8BBD1E-2B51-1134-22C9-06901D993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10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8F017E-EC46-09C1-604B-D5729AEE0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82F3C8-9FAB-E32C-8B13-95D24A56F4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47B93F-0021-B8EE-E693-E12929C871FA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FE9A61-0AEC-43E8-53D9-0800B82190B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Multiscale Clustering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23C2ED-039B-EDC1-9449-0705B7904677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5546BE-8F6E-8C91-46CB-0B3EE096DE0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458A2-D1D1-E759-4C3E-463D6EC535F8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2DCE27-2F8D-F3BC-7D95-38958EADEEA2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Groups genes with similar expression patterns into clusters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Finds gene networks that may work together in shared pathways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Detect both large modules and smaller nested submodules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Helps identify hub genes that may play central regulatory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42F194-D3D6-5B48-D841-470CD65F9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354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801A22-D97B-C2A3-9DC9-FEA1E24DC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ADE3B5-218D-5C36-67DC-42AB672082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DC8C3F-10F7-9E2D-CB68-EE2D9B38C7FA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34D103-3E66-AA9B-1105-BCF2C792D152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Hub Genes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7EE455-680D-C1F6-B85E-E0377A2C0E0C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7AB5FA-8C7E-CBDD-BBFF-7B750F7DFA97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37FE58-A42C-1D4F-EFB3-0833CB366C5D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11E0F9-C31C-D2F7-AB4F-4710355A15F6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Highly connected genes within a gene network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May play important regulatory roles in biological pathways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Can help identify genes linked to dise</a:t>
            </a:r>
            <a:r>
              <a:rPr lang="en-US" sz="2800" dirty="0"/>
              <a:t>ase mechanisms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Potential targets for future biological or </a:t>
            </a:r>
            <a:r>
              <a:rPr lang="en-US" sz="2800" dirty="0"/>
              <a:t>therapeutic study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7ABE8B-A1C4-4339-B522-644C1A6A3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691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D0DE1-DFC3-CE8E-18B5-D4E053D80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AD9A39-37AE-26AA-A7E9-71F135D303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6F4714-B909-7337-322A-15A0A63D7DBF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8D77EE-8326-D1BB-5A18-E6D83E00ABF7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Module Quality Metrics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C04EC4-9E2C-9D38-962B-E593BA6D1D1B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8AC7E3-348B-FBE5-A057-AA0D19FA9CC3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06240A-2189-8B59-2ACA-7A8DDF14C714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EC74AC-198F-F6A3-29AE-04B3554F1353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Modularity: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lang="en-US" sz="2800" dirty="0"/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lang="en-US" sz="2800" b="0" dirty="0"/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Conductance: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lang="en-US" sz="2800" b="0" dirty="0"/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lang="en-US" sz="2800" dirty="0"/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Density: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lang="en-US" sz="2800" dirty="0"/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lang="en-US" sz="2800" b="0" dirty="0"/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Transitivity: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FBDC79-C8B0-C405-F305-B246AAAAF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B0DB91A9-2F3D-DA16-9435-63919987F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5156" y="1688128"/>
            <a:ext cx="4361688" cy="822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0CCBF78-75D7-AA1C-442F-D7A4335BA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888" y="3070225"/>
            <a:ext cx="4162224" cy="71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021EA7F9-3F23-A292-04CA-B85D4A4B0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333458"/>
            <a:ext cx="3810000" cy="836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81474E58-CC4E-8E66-98C7-8F8A66FB4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7542" y="5576826"/>
            <a:ext cx="2756916" cy="766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7165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0FAA2C-993F-8A35-2A87-AD9BFC079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86C612-DE49-48B4-FA9C-9125D00501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75E418-7DDC-49E1-8ADB-CFB92D705ABB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DDED65-2A70-27C6-0E5B-7669BC0AAA99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Results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D5DDAA-1DC6-F8B2-DEF7-141B4183BE05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63C5C7-840D-BCF9-1211-4823A643A675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DBEB9C-60DD-EB20-6E54-A1F67DF3B4AE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E6F319-D858-C8AF-E1F2-3BBA3415D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DD803FCB-7858-05D5-9818-E7CFA40CB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574" y="1241676"/>
            <a:ext cx="6046851" cy="4869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52ECB7-EC83-6C61-27DD-6E855099AAAA}"/>
              </a:ext>
            </a:extLst>
          </p:cNvPr>
          <p:cNvSpPr txBox="1"/>
          <p:nvPr/>
        </p:nvSpPr>
        <p:spPr>
          <a:xfrm>
            <a:off x="3046475" y="5877355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Control + Late AMD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94663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1EA78-82AC-9A0F-531B-DC323B43C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FD21FD-D6CA-5BCF-6D51-EA06E922BE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CDDD16-48AA-A589-4EEA-ADE8FF4F97A1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374BBE-C6CC-4737-3216-D5300C1ECF43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Cohort Comparison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E24D65-1EEC-2E65-ED40-DD04F017B66E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5E6C0E-5E9C-4203-C666-59F9DF2F926B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387A27-3063-C899-A8C2-E018FBC6D0C4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C63503-1E1E-2010-FB83-F0DA2DAF5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01F97F-462D-11AE-126D-AFBF223EB4EA}"/>
              </a:ext>
            </a:extLst>
          </p:cNvPr>
          <p:cNvSpPr txBox="1"/>
          <p:nvPr/>
        </p:nvSpPr>
        <p:spPr>
          <a:xfrm>
            <a:off x="5274436" y="5778590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Late AMD</a:t>
            </a:r>
            <a:endParaRPr lang="en-US" dirty="0">
              <a:effectLst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A8C26AA-1A66-01AB-1438-08C1D7708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984" y="1745899"/>
            <a:ext cx="4455922" cy="3861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0994295F-0E57-5FF8-053C-A8D99ADA6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574707"/>
            <a:ext cx="4455922" cy="4203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8F2EEA-1172-B293-D3C7-76448B2E8D81}"/>
              </a:ext>
            </a:extLst>
          </p:cNvPr>
          <p:cNvSpPr txBox="1"/>
          <p:nvPr/>
        </p:nvSpPr>
        <p:spPr>
          <a:xfrm>
            <a:off x="193421" y="5754693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Control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282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3851B8-CF4A-1FD0-3ADB-63BA4E038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FC5625-74D8-7936-CC0F-BBD5BA8689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B83D5B-4EE0-DABC-7660-105BE8681527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D7F472-98D8-082F-C5D7-1FBD3F08F3B9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Stability Testing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33CB49-80B3-DFE9-AEFA-D90C83350E38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AF57D2-519B-D337-D930-F90F1357A5D5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B65C6C-30E7-6F18-F6D7-B18794511DDF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7F137C-29B8-CC52-6C72-5FB7E3C070AD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Add 419 random genes (total 500)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587175-3857-B196-77A2-0EEB09713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C5BBCE-8BE5-7930-2726-C5A8B9B14C5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82992"/>
          <a:ext cx="10515600" cy="4036604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2702909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897435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579272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37350471"/>
                    </a:ext>
                  </a:extLst>
                </a:gridCol>
              </a:tblGrid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Gene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Combined Cohort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Control Cohort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Disease Cohort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008946"/>
                  </a:ext>
                </a:extLst>
              </a:tr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C1R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99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94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93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623042"/>
                  </a:ext>
                </a:extLst>
              </a:tr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HLA-DRA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84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083576"/>
                  </a:ext>
                </a:extLst>
              </a:tr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SERPING1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84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94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684226"/>
                  </a:ext>
                </a:extLst>
              </a:tr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B2M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66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633359"/>
                  </a:ext>
                </a:extLst>
              </a:tr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CFB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65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329700"/>
                  </a:ext>
                </a:extLst>
              </a:tr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CTSZ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59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123189"/>
                  </a:ext>
                </a:extLst>
              </a:tr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APOBEC3C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56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933580"/>
                  </a:ext>
                </a:extLst>
              </a:tr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HLA-DPA1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424742"/>
                  </a:ext>
                </a:extLst>
              </a:tr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MAOB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551313"/>
                  </a:ext>
                </a:extLst>
              </a:tr>
              <a:tr h="3597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SLC9A9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endParaRPr lang="en-US" sz="130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  <a:endParaRPr lang="en-US" sz="1300" dirty="0">
                        <a:effectLst/>
                      </a:endParaRPr>
                    </a:p>
                  </a:txBody>
                  <a:tcPr marL="69182" marR="69182" marT="69182" marB="69182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30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807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AD535-973F-49C3-0EEC-4AB2ABD2E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77B006-7CE7-B363-093C-F3D74825A4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AFAA6C-3072-8546-6DC9-D5612FC9DDB6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747456-2F74-E53F-4C4D-B6E0EE934E96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sz="3600" b="1" dirty="0">
                <a:solidFill>
                  <a:srgbClr val="7A0019"/>
                </a:solidFill>
              </a:rPr>
              <a:t>DME Analysis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E3870E-56A1-6516-CCC7-7FBDFFBA9DC6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A1BD1B-3DFA-1F03-4D08-C8D7B698E34D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170F2F-0E8E-2858-29B1-4D6F483D66A5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E874BA-ECA8-FBFD-FA40-361DD1881749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Eigengene is the first principal component of a module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3E4723-EC41-1723-EAB9-B5F732BB6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E804007-C8DF-26C9-ADDA-E4505EE4A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550038"/>
              </p:ext>
            </p:extLst>
          </p:nvPr>
        </p:nvGraphicFramePr>
        <p:xfrm>
          <a:off x="838200" y="2468244"/>
          <a:ext cx="10515600" cy="1921512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95700735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5545176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5381413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69147392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632565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2933426"/>
                    </a:ext>
                  </a:extLst>
                </a:gridCol>
              </a:tblGrid>
              <a:tr h="3175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Module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Control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Late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T-statistic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FDR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853485"/>
                  </a:ext>
                </a:extLst>
              </a:tr>
              <a:tr h="3175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C1_2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-1.25903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2.167177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-4.86804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7.05E-06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7.05E-06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394898"/>
                  </a:ext>
                </a:extLst>
              </a:tr>
              <a:tr h="3175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C1_3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-1.07429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1.849189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-5.15719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2.47E-06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6.14E-06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830566"/>
                  </a:ext>
                </a:extLst>
              </a:tr>
              <a:tr h="3175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C1_4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-1.45326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2.501514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-5.0518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3.68E-06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6.14E-06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960097"/>
                  </a:ext>
                </a:extLst>
              </a:tr>
              <a:tr h="3175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C1_5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-1.02543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1.76508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-5.22561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1.46E-06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6.14E-06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514137"/>
                  </a:ext>
                </a:extLst>
              </a:tr>
              <a:tr h="3175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C1_9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1.186797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-2.04285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4.934329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5.72E-06</a:t>
                      </a:r>
                      <a:endParaRPr lang="en-US" sz="120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7.05E-06</a:t>
                      </a:r>
                      <a:endParaRPr lang="en-US" sz="1200" dirty="0">
                        <a:effectLst/>
                      </a:endParaRPr>
                    </a:p>
                  </a:txBody>
                  <a:tcPr marL="61066" marR="61066" marT="61066" marB="61066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587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844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A19A2C-AAE1-B95B-C0B3-D79F88638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3B8593-B1C3-8C2F-3B00-8FA668CC84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7D1FD7-5EA5-8699-CB80-4A01E6608268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C0D8EE-77FC-DD55-766B-8BDC6970801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sz="3600" b="1" dirty="0">
                <a:solidFill>
                  <a:srgbClr val="7A0019"/>
                </a:solidFill>
              </a:rPr>
              <a:t>Biological Insights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05A143-FE55-6924-82DE-2F36D58EC3B9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D899E6-CB26-FE8A-DD00-CA038F0E6428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C356E8-4D76-22BB-47DD-937A30A20B57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CE1B70-822B-6CEE-74C6-FA97FF03F717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142DB0-B3AC-F94C-F76F-02E2E60CA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DABA7B-F698-5F09-A358-928A107915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576803"/>
              </p:ext>
            </p:extLst>
          </p:nvPr>
        </p:nvGraphicFramePr>
        <p:xfrm>
          <a:off x="925068" y="2091450"/>
          <a:ext cx="10341863" cy="26751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3310420618"/>
                    </a:ext>
                  </a:extLst>
                </a:gridCol>
                <a:gridCol w="3948684">
                  <a:extLst>
                    <a:ext uri="{9D8B030D-6E8A-4147-A177-3AD203B41FA5}">
                      <a16:colId xmlns:a16="http://schemas.microsoft.com/office/drawing/2014/main" val="447140011"/>
                    </a:ext>
                  </a:extLst>
                </a:gridCol>
                <a:gridCol w="4078224">
                  <a:extLst>
                    <a:ext uri="{9D8B030D-6E8A-4147-A177-3AD203B41FA5}">
                      <a16:colId xmlns:a16="http://schemas.microsoft.com/office/drawing/2014/main" val="3414804852"/>
                    </a:ext>
                  </a:extLst>
                </a:gridCol>
                <a:gridCol w="1491995">
                  <a:extLst>
                    <a:ext uri="{9D8B030D-6E8A-4147-A177-3AD203B41FA5}">
                      <a16:colId xmlns:a16="http://schemas.microsoft.com/office/drawing/2014/main" val="2827916630"/>
                    </a:ext>
                  </a:extLst>
                </a:gridCol>
              </a:tblGrid>
              <a:tr h="28492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Hub Gene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What It Does</a:t>
                      </a:r>
                      <a:endParaRPr lang="en-US" sz="1100" dirty="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Why It Matters in AMD</a:t>
                      </a:r>
                      <a:endParaRPr lang="en-US" sz="1100" dirty="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Cohort</a:t>
                      </a: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347090"/>
                  </a:ext>
                </a:extLst>
              </a:tr>
              <a:tr h="50706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HLA-DRA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Helps immune cells recognize threats and activate immune responses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Suggests inflammation and immune activity are central in AMD</a:t>
                      </a:r>
                      <a:endParaRPr lang="en-US" sz="1100" dirty="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+ Late</a:t>
                      </a: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629615"/>
                  </a:ext>
                </a:extLst>
              </a:tr>
              <a:tr h="31389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B2M</a:t>
                      </a:r>
                      <a:endParaRPr lang="en-US" sz="1100" dirty="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Supports immune signaling and antigen presentation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Points to chronic immune dysregulation in diseased retina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+ Late</a:t>
                      </a: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353389"/>
                  </a:ext>
                </a:extLst>
              </a:tr>
              <a:tr h="31389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C1R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Helps activate the body’s natural first-line immune defense 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Overactivation of this defense pathway may help drive retinal damage in AMD 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+ Late</a:t>
                      </a: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221636"/>
                  </a:ext>
                </a:extLst>
              </a:tr>
              <a:tr h="50706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SERPING1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Controls and limits complement activity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Important because it may help protect the retina by controlling excess immune activity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+ Late</a:t>
                      </a:r>
                    </a:p>
                    <a:p>
                      <a:pPr rtl="0" fontAlgn="t">
                        <a:buNone/>
                      </a:pPr>
                      <a:endParaRPr lang="en-US" sz="13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679610"/>
                  </a:ext>
                </a:extLst>
              </a:tr>
              <a:tr h="31389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CFB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Helps activate an immune defense pathway linked to AMD </a:t>
                      </a:r>
                      <a:endParaRPr lang="en-US" sz="110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May point to processes that become important in later-stage AMD </a:t>
                      </a:r>
                      <a:endParaRPr lang="en-US" sz="1100" dirty="0">
                        <a:effectLst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</a:t>
                      </a:r>
                    </a:p>
                    <a:p>
                      <a:pPr rtl="0" fontAlgn="t">
                        <a:buNone/>
                      </a:pPr>
                      <a:endParaRPr lang="en-US" sz="13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65" marR="60365" marT="60365" marB="6036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445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0727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2925B8-7B50-39A6-2ADD-D4B67DB8A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AD6754-67BD-BF35-D2DF-E434F999E1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026381-2836-5955-5E55-571551EF0C5E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EC1E3E-72E7-E3FA-F646-6DDD8B4BE8DE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Contributions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9947E9-D46F-3FAA-7B32-9FEFD3A0B945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30DECC-4621-98EE-B010-C1C9EBEC3438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2852DA-EDC2-945E-7E2D-9B6519B741BE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DAB384-7709-44F2-66BC-D23B0210F3C3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Nonlinear similarity improves networks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Robust hub detection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Multiscale modeling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266C67-CB62-5A78-DBF5-CD5BD4543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336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F9CC55-4D2A-80C6-D454-DD5071CFC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8DC583-5182-D4B6-0692-EC72F8FC32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E8EFA1-6265-D4B5-BC3B-FD05CAF734F4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52ABE1-6695-6805-6E77-A01E587B4855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Limitations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894B62-D2AD-83F6-69F8-08AF2D43EB80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610C80-0FD2-6000-E2B1-51213B6A2FE6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B5FC25-0283-AD20-D1AB-C2F5DB86B54D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2128D6-4641-3EC0-870D-4E0EAA5F184B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Sample size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dirty="0"/>
              <a:t>Curated gene set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Future: multi-omics, single-cell data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8D371B-B360-8ACF-2B59-F32C65AB7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397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FC620-CCC2-BCED-B5F3-F00A7A575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B3E4A1-1CEC-D2B1-1018-9FA7C3AA1F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2E2C01-ADF6-CC85-3F98-F8B0534C372C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F8E624-A2B0-3441-474A-E5DD1185372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Conclusion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F688B9-0900-DBCC-FD3F-3603932A89CF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D7E0BD-137D-9505-F145-202D1B7A428F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A058A6-EDB4-35DF-1429-39B268FCA39F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C9D16-CD54-9D0A-53CD-15FC9ADA70A7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342900" indent="-342900" algn="l">
              <a:buFont typeface="Arial" panose="020B0604020202020204" pitchFamily="34" charset="0"/>
              <a:buChar char="•"/>
              <a:defRPr sz="1350" b="0">
                <a:solidFill>
                  <a:srgbClr val="5E5A56"/>
                </a:solidFill>
              </a:defRPr>
            </a:pPr>
            <a:r>
              <a:rPr lang="en-US" sz="2800" b="0" dirty="0"/>
              <a:t>Robust framework for network-based gene analysis in AMD</a:t>
            </a:r>
            <a:endParaRPr sz="28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ED1CDD-78DC-1031-522B-5CE7A5F21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639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A7CA0E-9CE5-E61C-6F51-4945D36F2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76385F-C8AD-537F-F988-2B83C60BCE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83584A-BD28-B0CB-E76A-8A7725185CF2}"/>
              </a:ext>
            </a:extLst>
          </p:cNvPr>
          <p:cNvSpPr>
            <a:spLocks noGrp="1"/>
          </p:cNvSpPr>
          <p:nvPr/>
        </p:nvSpPr>
        <p:spPr>
          <a:xfrm>
            <a:off x="0" y="152400"/>
            <a:ext cx="12192000" cy="28575"/>
          </a:xfrm>
          <a:prstGeom prst="rect">
            <a:avLst/>
          </a:prstGeom>
          <a:solidFill>
            <a:srgbClr val="D8AE4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77C31-0556-131D-A269-BD67F095C145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7810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7A0019"/>
                </a:solidFill>
              </a:defRPr>
            </a:pPr>
            <a:r>
              <a:rPr lang="en-US" altLang="zh-CN" sz="3600" b="1" dirty="0">
                <a:solidFill>
                  <a:srgbClr val="7A0019"/>
                </a:solidFill>
              </a:rPr>
              <a:t>References</a:t>
            </a:r>
            <a:endParaRPr sz="3600" b="1" dirty="0">
              <a:solidFill>
                <a:srgbClr val="7A0019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391477-B347-7991-C20D-27578B2CAA01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13335"/>
          </a:xfrm>
          <a:prstGeom prst="rect">
            <a:avLst/>
          </a:prstGeom>
          <a:solidFill>
            <a:srgbClr val="E4DB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A1F18C-3928-F6BF-9C5F-05332CD1D0B6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IEEE ICHI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A4670E-1A18-4C4D-C4A4-04FEA40C0E08}"/>
              </a:ext>
            </a:extLst>
          </p:cNvPr>
          <p:cNvSpPr>
            <a:spLocks noGrp="1"/>
          </p:cNvSpPr>
          <p:nvPr/>
        </p:nvSpPr>
        <p:spPr>
          <a:xfrm>
            <a:off x="8001000" y="6477000"/>
            <a:ext cx="3505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67C74"/>
                </a:solidFill>
              </a:defRPr>
            </a:pPr>
            <a:r>
              <a:rPr sz="900" b="0">
                <a:solidFill>
                  <a:srgbClr val="867C74"/>
                </a:solidFill>
              </a:rPr>
              <a:t>Minneapolis, MN • June 1–3,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F6FDFB-C006-D971-7D5A-76B03502FAD2}"/>
              </a:ext>
            </a:extLst>
          </p:cNvPr>
          <p:cNvSpPr>
            <a:spLocks noGrp="1"/>
          </p:cNvSpPr>
          <p:nvPr/>
        </p:nvSpPr>
        <p:spPr>
          <a:xfrm>
            <a:off x="685800" y="1308733"/>
            <a:ext cx="10624458" cy="49911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rtl="0"/>
            <a:r>
              <a:rPr lang="en-US" sz="2200" dirty="0"/>
              <a:t>Ratnapriya R. et al., 2019 — Nature Genetics</a:t>
            </a:r>
            <a:br>
              <a:rPr lang="en-US" sz="2200" dirty="0"/>
            </a:br>
            <a:r>
              <a:rPr lang="en-US" sz="2200" dirty="0"/>
              <a:t>	Retinal transcriptome and </a:t>
            </a:r>
            <a:r>
              <a:rPr lang="en-US" sz="2200" dirty="0" err="1"/>
              <a:t>eQTL</a:t>
            </a:r>
            <a:r>
              <a:rPr lang="en-US" sz="2200" dirty="0"/>
              <a:t> analyses identify genes associated with AMD</a:t>
            </a:r>
          </a:p>
          <a:p>
            <a:pPr rtl="0"/>
            <a:endParaRPr lang="en-US" sz="2200" dirty="0"/>
          </a:p>
          <a:p>
            <a:pPr rtl="0"/>
            <a:r>
              <a:rPr lang="en-US" sz="2200" dirty="0"/>
              <a:t>Ma K. et al., 2025 — </a:t>
            </a:r>
            <a:r>
              <a:rPr lang="en-US" sz="2200" dirty="0" err="1"/>
              <a:t>npj</a:t>
            </a:r>
            <a:r>
              <a:rPr lang="en-US" sz="2200" dirty="0"/>
              <a:t> Genomic Medicine</a:t>
            </a:r>
            <a:br>
              <a:rPr lang="en-US" sz="2200" dirty="0"/>
            </a:br>
            <a:r>
              <a:rPr lang="en-US" sz="2200" dirty="0"/>
              <a:t>	Explainable ML and transcriptomics reveal immune signatures in AMD</a:t>
            </a:r>
          </a:p>
          <a:p>
            <a:pPr rtl="0"/>
            <a:endParaRPr lang="en-US" sz="2200" dirty="0"/>
          </a:p>
          <a:p>
            <a:pPr rtl="0"/>
            <a:r>
              <a:rPr lang="en-US" sz="2200" dirty="0"/>
              <a:t>Langfelder P. and Horvath S., 2008 — BMC Bioinformatics</a:t>
            </a:r>
            <a:br>
              <a:rPr lang="en-US" sz="2200" dirty="0"/>
            </a:br>
            <a:r>
              <a:rPr lang="en-US" sz="2200" dirty="0"/>
              <a:t>	WGCNA: weighted gene co-expression network analysis</a:t>
            </a:r>
          </a:p>
          <a:p>
            <a:pPr rtl="0"/>
            <a:endParaRPr lang="en-US" sz="2200" dirty="0"/>
          </a:p>
          <a:p>
            <a:pPr rtl="0"/>
            <a:r>
              <a:rPr lang="en-US" sz="2200" dirty="0"/>
              <a:t>Song W.-M. and Zhang B., 2015 — PLOS Computational Biology</a:t>
            </a:r>
            <a:br>
              <a:rPr lang="en-US" sz="2200" dirty="0"/>
            </a:br>
            <a:r>
              <a:rPr lang="en-US" sz="2200" dirty="0"/>
              <a:t>	MEGENA: multiscale gene co-expression network analysis</a:t>
            </a:r>
          </a:p>
          <a:p>
            <a:pPr rtl="0"/>
            <a:endParaRPr lang="en-US" sz="2200" dirty="0"/>
          </a:p>
          <a:p>
            <a:pPr rtl="0"/>
            <a:r>
              <a:rPr lang="en-US" sz="2200" dirty="0"/>
              <a:t>Morabito S. et al., 2023 — Cell Reports Methods</a:t>
            </a:r>
            <a:br>
              <a:rPr lang="en-US" sz="2200" dirty="0"/>
            </a:br>
            <a:r>
              <a:rPr lang="en-US" sz="2200" dirty="0"/>
              <a:t>	</a:t>
            </a:r>
            <a:r>
              <a:rPr lang="en-US" sz="2200" dirty="0" err="1"/>
              <a:t>hdWGCNA</a:t>
            </a:r>
            <a:r>
              <a:rPr lang="en-US" sz="2200" dirty="0"/>
              <a:t> for high-dimensional transcriptomics</a:t>
            </a:r>
            <a:endParaRPr lang="en-US" sz="2200" dirty="0"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6A67E3-AB7F-566E-17EF-8C7C9B8BE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7713" y="323850"/>
            <a:ext cx="160632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098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9B09E7-A7F9-48CC-A2C4-F5CDE1AFEA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762500" cy="6858000"/>
          </a:xfrm>
          <a:prstGeom prst="rect">
            <a:avLst/>
          </a:prstGeom>
          <a:solidFill>
            <a:srgbClr val="7A00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4F1E2E-61AE-848F-B769-1C8958021098}"/>
              </a:ext>
            </a:extLst>
          </p:cNvPr>
          <p:cNvSpPr/>
          <p:nvPr/>
        </p:nvSpPr>
        <p:spPr>
          <a:xfrm>
            <a:off x="0" y="5196216"/>
            <a:ext cx="4762500" cy="1661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t="15385" b="15385"/>
          <a:stretch>
            <a:fillRect/>
          </a:stretch>
        </p:blipFill>
        <p:spPr>
          <a:xfrm>
            <a:off x="4762500" y="0"/>
            <a:ext cx="74295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2AB4C2-CFF7-4B1F-877E-EC57607B23A7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304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08AE43-49B7-4C7B-8452-26438B986773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2286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CC33"/>
                </a:solidFill>
              </a:defRPr>
            </a:pPr>
            <a:r>
              <a:rPr sz="2700" b="1" dirty="0">
                <a:solidFill>
                  <a:srgbClr val="FFCC33"/>
                </a:solidFill>
              </a:rPr>
              <a:t>Questions?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8928A7-E87B-4984-95FA-3C49F13C63AE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3048000" cy="1905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B97851-68AE-4809-8F6B-325B8D84622C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3048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F2E9E4"/>
                </a:solidFill>
              </a:defRPr>
            </a:pPr>
            <a:r>
              <a:rPr lang="en-US" sz="1800" b="0" dirty="0">
                <a:solidFill>
                  <a:srgbClr val="F2E9E4"/>
                </a:solidFill>
              </a:rPr>
              <a:t>Brayan Gutierrez</a:t>
            </a:r>
            <a:endParaRPr sz="1800" b="0" dirty="0">
              <a:solidFill>
                <a:srgbClr val="F2E9E4"/>
              </a:solidFill>
            </a:endParaRPr>
          </a:p>
          <a:p>
            <a:pPr algn="l">
              <a:defRPr sz="1800" b="0">
                <a:solidFill>
                  <a:srgbClr val="F2E9E4"/>
                </a:solidFill>
              </a:defRPr>
            </a:pPr>
            <a:r>
              <a:rPr lang="en-US" sz="1800" b="0" dirty="0">
                <a:solidFill>
                  <a:srgbClr val="F2E9E4"/>
                </a:solidFill>
              </a:rPr>
              <a:t>Rice University</a:t>
            </a:r>
            <a:endParaRPr sz="1800" b="0" dirty="0">
              <a:solidFill>
                <a:srgbClr val="F2E9E4"/>
              </a:solidFill>
            </a:endParaRPr>
          </a:p>
          <a:p>
            <a:pPr algn="l">
              <a:defRPr sz="1800" b="0">
                <a:solidFill>
                  <a:srgbClr val="F2E9E4"/>
                </a:solidFill>
              </a:defRPr>
            </a:pPr>
            <a:r>
              <a:rPr lang="en-US" sz="1800" b="0" dirty="0">
                <a:solidFill>
                  <a:srgbClr val="F2E9E4"/>
                </a:solidFill>
              </a:rPr>
              <a:t>bag5@rice</a:t>
            </a:r>
            <a:r>
              <a:rPr sz="1800" b="0" dirty="0">
                <a:solidFill>
                  <a:srgbClr val="F2E9E4"/>
                </a:solidFill>
              </a:rPr>
              <a:t>.edu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673" y="5359791"/>
            <a:ext cx="2163045" cy="923485"/>
          </a:xfrm>
          <a:prstGeom prst="rect">
            <a:avLst/>
          </a:prstGeom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0CA40E4D-5969-B0B3-AEE3-98E7B7BFB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032" y="3829050"/>
            <a:ext cx="3333940" cy="573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4527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1252</Words>
  <Application>Microsoft Office PowerPoint</Application>
  <DocSecurity>0</DocSecurity>
  <PresentationFormat>Widescreen</PresentationFormat>
  <Paragraphs>252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Brayan Gutierrez</cp:lastModifiedBy>
  <cp:revision>11</cp:revision>
  <dcterms:created xsi:type="dcterms:W3CDTF">2026-04-22T03:01:25Z</dcterms:created>
  <dcterms:modified xsi:type="dcterms:W3CDTF">2026-05-07T00:37:34Z</dcterms:modified>
</cp:coreProperties>
</file>